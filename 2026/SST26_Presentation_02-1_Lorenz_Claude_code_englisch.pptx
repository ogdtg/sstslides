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7"/>
  </p:notesMasterIdLst>
  <p:handoutMasterIdLst>
    <p:handoutMasterId r:id="rId18"/>
  </p:handoutMasterIdLst>
  <p:sldIdLst>
    <p:sldId id="2147482128" r:id="rId6"/>
    <p:sldId id="2147482254" r:id="rId7"/>
    <p:sldId id="2147482257" r:id="rId8"/>
    <p:sldId id="2147482272" r:id="rId9"/>
    <p:sldId id="2147482258" r:id="rId10"/>
    <p:sldId id="2147482256" r:id="rId11"/>
    <p:sldId id="2147482259" r:id="rId12"/>
    <p:sldId id="2147482255" r:id="rId13"/>
    <p:sldId id="2147482260" r:id="rId14"/>
    <p:sldId id="2147482261" r:id="rId15"/>
    <p:sldId id="2147482271" r:id="rId16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ell" id="{73F80CAE-D516-4A64-AF24-41CEEF9057B5}">
          <p14:sldIdLst>
            <p14:sldId id="2147482128"/>
            <p14:sldId id="2147482254"/>
            <p14:sldId id="2147482257"/>
            <p14:sldId id="2147482272"/>
            <p14:sldId id="2147482258"/>
            <p14:sldId id="2147482256"/>
            <p14:sldId id="2147482259"/>
            <p14:sldId id="2147482255"/>
            <p14:sldId id="2147482260"/>
            <p14:sldId id="2147482261"/>
            <p14:sldId id="2147482271"/>
          </p14:sldIdLst>
        </p14:section>
        <p14:section name="Anhang" id="{507DB439-2AEB-474A-9BA3-EC1433AEA14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29DA69-7C8A-D9AD-FC68-C2AE8150A46C}" name="Stutz Sascha" initials="SS" userId="S::sascha.stutz@tg.ch::8f7689f7-418e-4f35-affb-0d799008dd7c" providerId="AD"/>
  <p188:author id="{D92DEF83-A21C-DF85-17CC-FB4A70BB01FE}" name="Baldenweg Ulrike" initials="UB" userId="S::Ulrike.Baldenweg@tg.ch::08d469e6-df66-4d75-976b-c206abc1add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CA9"/>
    <a:srgbClr val="8EDBF2"/>
    <a:srgbClr val="009FE3"/>
    <a:srgbClr val="3CA433"/>
    <a:srgbClr val="A2C50F"/>
    <a:srgbClr val="FEED00"/>
    <a:srgbClr val="003F6F"/>
    <a:srgbClr val="66BCC5"/>
    <a:srgbClr val="669198"/>
    <a:srgbClr val="004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A2006-FB25-47AC-8B3B-B8F32153F85E}" v="1" dt="2026-08-24T14:18:12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2131" autoAdjust="0"/>
  </p:normalViewPr>
  <p:slideViewPr>
    <p:cSldViewPr snapToGrid="0">
      <p:cViewPr varScale="1">
        <p:scale>
          <a:sx n="146" d="100"/>
          <a:sy n="146" d="100"/>
        </p:scale>
        <p:origin x="1080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60" y="12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 Felix" userId="77328283-84c8-45ed-9b71-f0655efee8fd" providerId="ADAL" clId="{EA7FFADC-1343-43E6-99FF-732609043F5A}"/>
    <pc:docChg chg="undo custSel addSld modSld">
      <pc:chgData name="Lorenz Felix" userId="77328283-84c8-45ed-9b71-f0655efee8fd" providerId="ADAL" clId="{EA7FFADC-1343-43E6-99FF-732609043F5A}" dt="2026-08-24T14:18:38.747" v="8" actId="478"/>
      <pc:docMkLst>
        <pc:docMk/>
      </pc:docMkLst>
      <pc:sldChg chg="delSp mod delAnim">
        <pc:chgData name="Lorenz Felix" userId="77328283-84c8-45ed-9b71-f0655efee8fd" providerId="ADAL" clId="{EA7FFADC-1343-43E6-99FF-732609043F5A}" dt="2026-08-24T14:18:38.747" v="8" actId="478"/>
        <pc:sldMkLst>
          <pc:docMk/>
          <pc:sldMk cId="2887714009" sldId="2147482256"/>
        </pc:sldMkLst>
        <pc:picChg chg="del">
          <ac:chgData name="Lorenz Felix" userId="77328283-84c8-45ed-9b71-f0655efee8fd" providerId="ADAL" clId="{EA7FFADC-1343-43E6-99FF-732609043F5A}" dt="2026-08-24T14:18:38.747" v="8" actId="478"/>
          <ac:picMkLst>
            <pc:docMk/>
            <pc:sldMk cId="2887714009" sldId="2147482256"/>
            <ac:picMk id="6" creationId="{A575E60F-433A-C11B-610E-FC5B29DDE372}"/>
          </ac:picMkLst>
        </pc:picChg>
        <pc:picChg chg="del">
          <ac:chgData name="Lorenz Felix" userId="77328283-84c8-45ed-9b71-f0655efee8fd" providerId="ADAL" clId="{EA7FFADC-1343-43E6-99FF-732609043F5A}" dt="2026-08-24T14:18:38.041" v="7" actId="478"/>
          <ac:picMkLst>
            <pc:docMk/>
            <pc:sldMk cId="2887714009" sldId="2147482256"/>
            <ac:picMk id="8" creationId="{AE720882-6234-2F34-82C4-39DD1BD7D834}"/>
          </ac:picMkLst>
        </pc:picChg>
        <pc:picChg chg="del">
          <ac:chgData name="Lorenz Felix" userId="77328283-84c8-45ed-9b71-f0655efee8fd" providerId="ADAL" clId="{EA7FFADC-1343-43E6-99FF-732609043F5A}" dt="2026-08-24T14:18:37.266" v="6" actId="478"/>
          <ac:picMkLst>
            <pc:docMk/>
            <pc:sldMk cId="2887714009" sldId="2147482256"/>
            <ac:picMk id="10" creationId="{D7EE9193-8AD1-E9B4-4591-06013BE0E84E}"/>
          </ac:picMkLst>
        </pc:picChg>
      </pc:sldChg>
      <pc:sldChg chg="addSp delSp modSp mod delAnim">
        <pc:chgData name="Lorenz Felix" userId="77328283-84c8-45ed-9b71-f0655efee8fd" providerId="ADAL" clId="{EA7FFADC-1343-43E6-99FF-732609043F5A}" dt="2026-08-24T14:18:23.248" v="3" actId="478"/>
        <pc:sldMkLst>
          <pc:docMk/>
          <pc:sldMk cId="714562512" sldId="2147482257"/>
        </pc:sldMkLst>
        <pc:spChg chg="add del">
          <ac:chgData name="Lorenz Felix" userId="77328283-84c8-45ed-9b71-f0655efee8fd" providerId="ADAL" clId="{EA7FFADC-1343-43E6-99FF-732609043F5A}" dt="2026-08-24T14:18:23.248" v="3" actId="478"/>
          <ac:spMkLst>
            <pc:docMk/>
            <pc:sldMk cId="714562512" sldId="2147482257"/>
            <ac:spMk id="4" creationId="{0D48E7D8-9086-6AED-0622-AB714BDB87A0}"/>
          </ac:spMkLst>
        </pc:spChg>
        <pc:spChg chg="add del mod">
          <ac:chgData name="Lorenz Felix" userId="77328283-84c8-45ed-9b71-f0655efee8fd" providerId="ADAL" clId="{EA7FFADC-1343-43E6-99FF-732609043F5A}" dt="2026-08-24T14:18:23.248" v="3" actId="478"/>
          <ac:spMkLst>
            <pc:docMk/>
            <pc:sldMk cId="714562512" sldId="2147482257"/>
            <ac:spMk id="6" creationId="{825EA540-A6EE-15C9-1D58-1A38545E89B1}"/>
          </ac:spMkLst>
        </pc:spChg>
        <pc:spChg chg="del">
          <ac:chgData name="Lorenz Felix" userId="77328283-84c8-45ed-9b71-f0655efee8fd" providerId="ADAL" clId="{EA7FFADC-1343-43E6-99FF-732609043F5A}" dt="2026-08-24T14:18:18.884" v="1" actId="478"/>
          <ac:spMkLst>
            <pc:docMk/>
            <pc:sldMk cId="714562512" sldId="2147482257"/>
            <ac:spMk id="8" creationId="{751393E4-B052-389A-4274-CB48AD8CC111}"/>
          </ac:spMkLst>
        </pc:spChg>
      </pc:sldChg>
      <pc:sldChg chg="delSp add mod">
        <pc:chgData name="Lorenz Felix" userId="77328283-84c8-45ed-9b71-f0655efee8fd" providerId="ADAL" clId="{EA7FFADC-1343-43E6-99FF-732609043F5A}" dt="2026-08-24T14:18:29.562" v="5" actId="478"/>
        <pc:sldMkLst>
          <pc:docMk/>
          <pc:sldMk cId="3863191086" sldId="2147482272"/>
        </pc:sldMkLst>
        <pc:spChg chg="del">
          <ac:chgData name="Lorenz Felix" userId="77328283-84c8-45ed-9b71-f0655efee8fd" providerId="ADAL" clId="{EA7FFADC-1343-43E6-99FF-732609043F5A}" dt="2026-08-24T14:18:27.470" v="4" actId="478"/>
          <ac:spMkLst>
            <pc:docMk/>
            <pc:sldMk cId="3863191086" sldId="2147482272"/>
            <ac:spMk id="5" creationId="{510FA7E6-6872-2018-CFEF-9BFC4457CF2A}"/>
          </ac:spMkLst>
        </pc:spChg>
        <pc:spChg chg="del">
          <ac:chgData name="Lorenz Felix" userId="77328283-84c8-45ed-9b71-f0655efee8fd" providerId="ADAL" clId="{EA7FFADC-1343-43E6-99FF-732609043F5A}" dt="2026-08-24T14:18:29.562" v="5" actId="478"/>
          <ac:spMkLst>
            <pc:docMk/>
            <pc:sldMk cId="3863191086" sldId="2147482272"/>
            <ac:spMk id="7" creationId="{0CA4182C-D87A-065D-1F0B-5F349BD4E84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AB50F6C-FF71-9907-A9C3-21A82CD233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DF498D-30EA-851A-0651-C7C3A0B2D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E29AE-8D97-4ADA-8E16-5D5AAC5FAAE9}" type="datetimeFigureOut">
              <a:rPr lang="de-CH" smtClean="0"/>
              <a:t>24.08.2026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6E3933-A723-029E-A4E0-581A11F228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C8B889-1CCC-5826-56FC-A069DC076E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7B076-B20A-473E-9192-28D6B3D9744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7511058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0AE6A-40D5-4679-BE6E-D982BB1877CE}" type="datetimeFigureOut">
              <a:rPr lang="de-CH" smtClean="0"/>
              <a:t>24.08.2026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F4B85-5466-48D6-82D0-DAE0EAD8063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195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- Is the topic already old news? Who uses </a:t>
            </a:r>
            <a:r>
              <a:rPr lang="de-CH" dirty="0" err="1"/>
              <a:t>chatbots</a:t>
            </a:r>
            <a:r>
              <a:rPr lang="de-CH" dirty="0"/>
              <a:t>? Who uses </a:t>
            </a:r>
            <a:r>
              <a:rPr lang="de-CH" dirty="0" err="1"/>
              <a:t>coding</a:t>
            </a:r>
            <a:r>
              <a:rPr lang="de-CH" dirty="0"/>
              <a:t> </a:t>
            </a:r>
            <a:r>
              <a:rPr lang="de-CH" dirty="0" err="1"/>
              <a:t>assistants</a:t>
            </a:r>
            <a:r>
              <a:rPr lang="de-CH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503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252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BC58-2312-DC01-0C97-8495844D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8CF048-FE16-00AC-71A7-C241C0153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BA4031-B9E2-63A9-4BF9-932FC3010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C07AD1-448D-ABDC-56B3-F791CEC12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485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Make clever use of the 5-hour window</a:t>
            </a:r>
          </a:p>
          <a:p>
            <a:r>
              <a:rPr lang="de-CH" dirty="0"/>
              <a:t>Send a message first thing in the morning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4682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1BCB5CA-2B6F-0101-7348-D07C9DCEC6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125" y="282623"/>
            <a:ext cx="1583201" cy="575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14D7041-2DD9-B13F-3A93-0847AE3E36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433" y="2022604"/>
            <a:ext cx="5696438" cy="1946146"/>
          </a:xfrm>
          <a:prstGeom prst="rect">
            <a:avLst/>
          </a:prstGeom>
          <a:ln>
            <a:noFill/>
          </a:ln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5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durch Klicken bearbeiten zweite Zeile</a:t>
            </a:r>
            <a:br>
              <a:rPr lang="de-DE" dirty="0"/>
            </a:br>
            <a:r>
              <a:rPr lang="de-DE" dirty="0"/>
              <a:t>und dritte Zeile</a:t>
            </a:r>
            <a:endParaRPr lang="de-CH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C30AE5E8-E565-1B4F-C2F5-B3CE0547945B}"/>
              </a:ext>
            </a:extLst>
          </p:cNvPr>
          <p:cNvSpPr txBox="1">
            <a:spLocks/>
          </p:cNvSpPr>
          <p:nvPr userDrawn="1"/>
        </p:nvSpPr>
        <p:spPr>
          <a:xfrm>
            <a:off x="531338" y="523165"/>
            <a:ext cx="4756942" cy="30087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b="1" dirty="0"/>
              <a:t>Amt für Daten und Statistik</a:t>
            </a:r>
            <a:endParaRPr lang="de-CH" sz="1050" b="1" dirty="0"/>
          </a:p>
        </p:txBody>
      </p:sp>
      <p:pic>
        <p:nvPicPr>
          <p:cNvPr id="13" name="Grafik 12" descr="Ein Bild, das draußen, Wolke, Baum, Himmel enthält.&#10;&#10;KI-generierte Inhalte können fehlerhaft sein.">
            <a:extLst>
              <a:ext uri="{FF2B5EF4-FFF2-40B4-BE49-F238E27FC236}">
                <a16:creationId xmlns:a16="http://schemas.microsoft.com/office/drawing/2014/main" id="{936F82AF-3E8A-C1B0-2D51-D599B67CF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0" t="22822" b="9741"/>
          <a:stretch/>
        </p:blipFill>
        <p:spPr>
          <a:xfrm>
            <a:off x="6567778" y="1924050"/>
            <a:ext cx="5618678" cy="379095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2ED1D44-6DAA-46A8-1590-3EA47B9E1E5A}"/>
              </a:ext>
            </a:extLst>
          </p:cNvPr>
          <p:cNvSpPr/>
          <p:nvPr userDrawn="1"/>
        </p:nvSpPr>
        <p:spPr>
          <a:xfrm>
            <a:off x="11620500" y="1438275"/>
            <a:ext cx="571500" cy="485775"/>
          </a:xfrm>
          <a:prstGeom prst="rect">
            <a:avLst/>
          </a:prstGeom>
          <a:solidFill>
            <a:srgbClr val="FEE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C0F3BF2-D233-D505-C094-887CF19AC11A}"/>
              </a:ext>
            </a:extLst>
          </p:cNvPr>
          <p:cNvSpPr/>
          <p:nvPr userDrawn="1"/>
        </p:nvSpPr>
        <p:spPr>
          <a:xfrm>
            <a:off x="11620500" y="2633662"/>
            <a:ext cx="571500" cy="485775"/>
          </a:xfrm>
          <a:prstGeom prst="rect">
            <a:avLst/>
          </a:prstGeom>
          <a:solidFill>
            <a:srgbClr val="3CA4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7AABC3A-BDC4-DF7D-5F7B-D54EF0DBAD94}"/>
              </a:ext>
            </a:extLst>
          </p:cNvPr>
          <p:cNvSpPr/>
          <p:nvPr userDrawn="1"/>
        </p:nvSpPr>
        <p:spPr>
          <a:xfrm>
            <a:off x="11620500" y="3119437"/>
            <a:ext cx="571500" cy="485775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B7E6757-84EA-32B5-66F3-13637A2D04CE}"/>
              </a:ext>
            </a:extLst>
          </p:cNvPr>
          <p:cNvSpPr/>
          <p:nvPr userDrawn="1"/>
        </p:nvSpPr>
        <p:spPr>
          <a:xfrm>
            <a:off x="11620500" y="1925751"/>
            <a:ext cx="571500" cy="707911"/>
          </a:xfrm>
          <a:prstGeom prst="rect">
            <a:avLst/>
          </a:prstGeom>
          <a:solidFill>
            <a:srgbClr val="A2C5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B687796-653C-9A97-53A1-03B6209B19ED}"/>
              </a:ext>
            </a:extLst>
          </p:cNvPr>
          <p:cNvSpPr/>
          <p:nvPr userDrawn="1"/>
        </p:nvSpPr>
        <p:spPr>
          <a:xfrm>
            <a:off x="11620500" y="3605900"/>
            <a:ext cx="571500" cy="2685156"/>
          </a:xfrm>
          <a:prstGeom prst="rect">
            <a:avLst/>
          </a:prstGeom>
          <a:solidFill>
            <a:srgbClr val="59CEF1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55ECEF-58BF-6C4E-13AB-328721C2A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4078674"/>
            <a:ext cx="5710237" cy="63817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</a:lstStyle>
          <a:p>
            <a:pPr lvl="0"/>
            <a:r>
              <a:rPr lang="de-DE" dirty="0"/>
              <a:t>Name und Funktion des Referenten</a:t>
            </a:r>
          </a:p>
          <a:p>
            <a:pPr lvl="0"/>
            <a:r>
              <a:rPr lang="de-DE" dirty="0"/>
              <a:t>Frauenfeld, 25. März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9263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ung">
    <p:bg>
      <p:bgPr>
        <a:solidFill>
          <a:srgbClr val="A9D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146EE5-5980-A84E-9311-F5B9956E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80" y="1277347"/>
            <a:ext cx="11306175" cy="83657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ts val="6000"/>
              </a:lnSpc>
              <a:defRPr sz="6000" b="0" spc="40"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526380" y="2124792"/>
            <a:ext cx="10515600" cy="5598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883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">
    <p:bg>
      <p:bgPr>
        <a:solidFill>
          <a:srgbClr val="BFDE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146EE5-5980-A84E-9311-F5B9956E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52" y="1276953"/>
            <a:ext cx="11306175" cy="83657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ts val="6000"/>
              </a:lnSpc>
              <a:defRPr sz="6000" b="0" spc="40"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535752" y="2130535"/>
            <a:ext cx="10515600" cy="5598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701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2"/>
          <p:cNvSpPr>
            <a:spLocks noGrp="1"/>
          </p:cNvSpPr>
          <p:nvPr>
            <p:ph sz="half" idx="11"/>
          </p:nvPr>
        </p:nvSpPr>
        <p:spPr>
          <a:xfrm>
            <a:off x="533298" y="1628775"/>
            <a:ext cx="11179277" cy="4464050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908539-521E-E32B-B7C7-D1E0389B0D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r">
              <a:defRPr/>
            </a:lvl1pPr>
          </a:lstStyle>
          <a:p>
            <a:fld id="{9BF9BEF6-7696-47FE-9714-633954533453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36B3839-F360-16F2-91E3-E19B49A2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8807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5779" y="1628775"/>
            <a:ext cx="11183363" cy="44601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96000" y="6502122"/>
            <a:ext cx="216000" cy="1365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F9BEF6-7696-47FE-9714-633954533453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/>
          <a:p>
            <a:r>
              <a:rPr lang="de-DE"/>
              <a:t>Titel durch Klicken bearbeiten</a:t>
            </a:r>
            <a:endParaRPr lang="de-CH"/>
          </a:p>
        </p:txBody>
      </p:sp>
      <p:pic>
        <p:nvPicPr>
          <p:cNvPr id="499" name="Grafik 498">
            <a:extLst>
              <a:ext uri="{FF2B5EF4-FFF2-40B4-BE49-F238E27FC236}">
                <a16:creationId xmlns:a16="http://schemas.microsoft.com/office/drawing/2014/main" id="{F1869C40-B6DA-6731-F9F7-4B6A610BA6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6924" y="263573"/>
            <a:ext cx="1583201" cy="57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7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7" orient="horz" pos="3838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1" orient="horz" pos="25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640D5-0994-B290-DBF7-246710E4A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de-CH" sz="3200" dirty="0"/>
              <a:t>Claude Code in Public Administration: Pragmatic, Privacy-Compliant, Productive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2FB3E5-2EEB-2D4E-FEC2-1E257FCD1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Rohrschach, August 25, 2026</a:t>
            </a:r>
          </a:p>
        </p:txBody>
      </p:sp>
    </p:spTree>
    <p:extLst>
      <p:ext uri="{BB962C8B-B14F-4D97-AF65-F5344CB8AC3E}">
        <p14:creationId xmlns:p14="http://schemas.microsoft.com/office/powerpoint/2010/main" val="383824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5D84-075C-1B5F-110D-13BD63A3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E8CCC1-705A-BFBC-44BD-825916D720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2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C6F7485-7E9F-D08A-FD80-9A266409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Chatbot vs. Coding Assistant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E85C967-2F14-9D01-0CD0-4A107CF7C0B4}"/>
              </a:ext>
            </a:extLst>
          </p:cNvPr>
          <p:cNvGrpSpPr/>
          <p:nvPr/>
        </p:nvGrpSpPr>
        <p:grpSpPr>
          <a:xfrm>
            <a:off x="6288055" y="1626422"/>
            <a:ext cx="5374673" cy="4134347"/>
            <a:chOff x="3276218" y="1484312"/>
            <a:chExt cx="2520001" cy="4134347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72B6851-A014-3C7D-B4A7-9A370E6FCB5C}"/>
                </a:ext>
              </a:extLst>
            </p:cNvPr>
            <p:cNvSpPr/>
            <p:nvPr/>
          </p:nvSpPr>
          <p:spPr>
            <a:xfrm>
              <a:off x="3276218" y="1484312"/>
              <a:ext cx="2520000" cy="398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b="1" dirty="0">
                  <a:solidFill>
                    <a:schemeClr val="tx1"/>
                  </a:solidFill>
                </a:rPr>
                <a:t>Coding Assistant (Claude Code, Codex, etc.)</a:t>
              </a:r>
            </a:p>
          </p:txBody>
        </p:sp>
        <p:sp>
          <p:nvSpPr>
            <p:cNvPr id="19" name="Inhaltsplatzhalter 1">
              <a:extLst>
                <a:ext uri="{FF2B5EF4-FFF2-40B4-BE49-F238E27FC236}">
                  <a16:creationId xmlns:a16="http://schemas.microsoft.com/office/drawing/2014/main" id="{0F7CFF67-C520-2C06-A6E1-5A4465721D4D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1882634"/>
              <a:ext cx="2520000" cy="37360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 err="1"/>
                <a:t>Agentic</a:t>
              </a:r>
              <a:r>
                <a:rPr lang="de-CH" sz="1800" dirty="0"/>
                <a:t>: acts independently instead of just responding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Reads/writes files directly in the project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Runs terminal commands, tests, </a:t>
              </a:r>
              <a:r>
                <a:rPr lang="de-CH" sz="1800" dirty="0" err="1"/>
                <a:t>Git</a:t>
              </a:r>
              <a:r>
                <a:rPr lang="de-CH" sz="1800" dirty="0"/>
                <a:t> operations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Works iteratively: Plan → Execute → Review → Correct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Understands the context of entire codebases, not just code snippets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de-CH" sz="1800" b="1" dirty="0"/>
            </a:p>
            <a:p>
              <a:endParaRPr lang="de-CH" sz="1800" b="1" dirty="0"/>
            </a:p>
            <a:p>
              <a:endParaRPr lang="de-CH" sz="1800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E9784F3-C777-7CFD-C6C5-4B8BB0465D26}"/>
              </a:ext>
            </a:extLst>
          </p:cNvPr>
          <p:cNvGrpSpPr/>
          <p:nvPr/>
        </p:nvGrpSpPr>
        <p:grpSpPr>
          <a:xfrm>
            <a:off x="529271" y="1626422"/>
            <a:ext cx="5374673" cy="4137564"/>
            <a:chOff x="3276218" y="1484312"/>
            <a:chExt cx="2520001" cy="4682304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7D152F1D-E188-A54A-25FF-BD2725D69C75}"/>
                </a:ext>
              </a:extLst>
            </p:cNvPr>
            <p:cNvSpPr/>
            <p:nvPr/>
          </p:nvSpPr>
          <p:spPr>
            <a:xfrm>
              <a:off x="3276218" y="1484312"/>
              <a:ext cx="2520000" cy="398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b="1" dirty="0">
                  <a:solidFill>
                    <a:schemeClr val="tx1"/>
                  </a:solidFill>
                </a:rPr>
                <a:t>Chatbot (ChatGPT, Claude, etc.)</a:t>
              </a:r>
            </a:p>
          </p:txBody>
        </p:sp>
        <p:sp>
          <p:nvSpPr>
            <p:cNvPr id="26" name="Inhaltsplatzhalter 1">
              <a:extLst>
                <a:ext uri="{FF2B5EF4-FFF2-40B4-BE49-F238E27FC236}">
                  <a16:creationId xmlns:a16="http://schemas.microsoft.com/office/drawing/2014/main" id="{2766C026-3D54-C578-1797-62B745297DE6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1882634"/>
              <a:ext cx="2520000" cy="4283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Conversation-based, question-answer format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Text-only interaction in the chat window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No access to file system or terminal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(Mostly) no independent execution of</a:t>
              </a:r>
            </a:p>
            <a:p>
              <a:endParaRPr lang="de-CH" sz="1800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</p:txBody>
        </p:sp>
      </p:grpSp>
      <p:sp>
        <p:nvSpPr>
          <p:cNvPr id="28" name="Rechteck 27">
            <a:extLst>
              <a:ext uri="{FF2B5EF4-FFF2-40B4-BE49-F238E27FC236}">
                <a16:creationId xmlns:a16="http://schemas.microsoft.com/office/drawing/2014/main" id="{B544CDCA-89F6-48B4-6F00-D3664D410284}"/>
              </a:ext>
            </a:extLst>
          </p:cNvPr>
          <p:cNvSpPr/>
          <p:nvPr/>
        </p:nvSpPr>
        <p:spPr>
          <a:xfrm>
            <a:off x="529271" y="1626422"/>
            <a:ext cx="5374671" cy="398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Chatbot (ChatGPT, Claude, etc.)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260AC3B-A3FF-538F-8835-F42CB4CBAC67}"/>
              </a:ext>
            </a:extLst>
          </p:cNvPr>
          <p:cNvSpPr/>
          <p:nvPr/>
        </p:nvSpPr>
        <p:spPr>
          <a:xfrm>
            <a:off x="529271" y="5760769"/>
            <a:ext cx="5374671" cy="398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b="1" dirty="0">
                <a:solidFill>
                  <a:schemeClr val="tx1"/>
                </a:solidFill>
              </a:rPr>
              <a:t>Conversation partner for quick answers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9F0F1D4-BDD9-EA24-9F73-1743C9ED0F4D}"/>
              </a:ext>
            </a:extLst>
          </p:cNvPr>
          <p:cNvSpPr/>
          <p:nvPr/>
        </p:nvSpPr>
        <p:spPr>
          <a:xfrm>
            <a:off x="6288054" y="5760769"/>
            <a:ext cx="5374671" cy="398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b="1" dirty="0">
                <a:solidFill>
                  <a:schemeClr val="tx1"/>
                </a:solidFill>
              </a:rPr>
              <a:t>Active agent within your own project</a:t>
            </a:r>
          </a:p>
        </p:txBody>
      </p:sp>
    </p:spTree>
    <p:extLst>
      <p:ext uri="{BB962C8B-B14F-4D97-AF65-F5344CB8AC3E}">
        <p14:creationId xmlns:p14="http://schemas.microsoft.com/office/powerpoint/2010/main" val="65467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C654B0-4257-3D31-5817-B93276C00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3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D48E7D8-9086-6AED-0622-AB714BDB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7619319" cy="982371"/>
          </a:xfrm>
        </p:spPr>
        <p:txBody>
          <a:bodyPr>
            <a:normAutofit/>
          </a:bodyPr>
          <a:lstStyle/>
          <a:p>
            <a:r>
              <a:rPr lang="de-DE" dirty="0"/>
              <a:t>The problem: data privacy and AI in public administration seem incompatible</a:t>
            </a:r>
            <a:endParaRPr lang="de-CH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59283E2-3291-6221-8EBE-DED695988F83}"/>
              </a:ext>
            </a:extLst>
          </p:cNvPr>
          <p:cNvSpPr txBox="1">
            <a:spLocks/>
          </p:cNvSpPr>
          <p:nvPr/>
        </p:nvSpPr>
        <p:spPr>
          <a:xfrm>
            <a:off x="528638" y="2113785"/>
            <a:ext cx="10515600" cy="2215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Locally installed tools such as Copilot, Cursor, Codex, or Claude Code usually cannot be used in a privacy-compliant way</a:t>
            </a:r>
          </a:p>
          <a:p>
            <a:r>
              <a:rPr lang="de-CH" dirty="0"/>
              <a:t>Use is usually only possible on special devices that are not connected to the administrative unit's official network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CH" dirty="0"/>
              <a:t> 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80CC330-ACC6-9508-96E8-688542800E77}"/>
              </a:ext>
            </a:extLst>
          </p:cNvPr>
          <p:cNvSpPr txBox="1">
            <a:spLocks/>
          </p:cNvSpPr>
          <p:nvPr/>
        </p:nvSpPr>
        <p:spPr>
          <a:xfrm>
            <a:off x="528638" y="3781028"/>
            <a:ext cx="10515600" cy="1325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CH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CH" b="1" dirty="0"/>
              <a:t>Claude Code on the web (claude.ai/code) combined with GitHub offers a pragmatic, privacy-compliant solution</a:t>
            </a:r>
          </a:p>
        </p:txBody>
      </p:sp>
    </p:spTree>
    <p:extLst>
      <p:ext uri="{BB962C8B-B14F-4D97-AF65-F5344CB8AC3E}">
        <p14:creationId xmlns:p14="http://schemas.microsoft.com/office/powerpoint/2010/main" val="71456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1FF3-A589-F728-7C28-977538B7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4ECDCC-B7FA-19A0-F0AC-80F431C1B3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4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E6679E2-A502-BD00-21D2-30BA5548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7619319" cy="982371"/>
          </a:xfrm>
        </p:spPr>
        <p:txBody>
          <a:bodyPr>
            <a:normAutofit/>
          </a:bodyPr>
          <a:lstStyle/>
          <a:p>
            <a:r>
              <a:rPr lang="de-DE" dirty="0"/>
              <a:t>The problem: data privacy and AI in public administration seem incompatible</a:t>
            </a:r>
            <a:endParaRPr lang="de-CH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D4AC8A4-3B88-3A60-BA56-65E759ABB1F5}"/>
              </a:ext>
            </a:extLst>
          </p:cNvPr>
          <p:cNvSpPr/>
          <p:nvPr/>
        </p:nvSpPr>
        <p:spPr>
          <a:xfrm>
            <a:off x="1147762" y="1728800"/>
            <a:ext cx="9217024" cy="4104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Anyone already using Claude Desktop or the CLI tool in a privacy-compliant way should stick with it and not switch to the web version</a:t>
            </a:r>
          </a:p>
        </p:txBody>
      </p:sp>
    </p:spTree>
    <p:extLst>
      <p:ext uri="{BB962C8B-B14F-4D97-AF65-F5344CB8AC3E}">
        <p14:creationId xmlns:p14="http://schemas.microsoft.com/office/powerpoint/2010/main" val="386319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F8B7-3752-4058-FEA2-21B12B92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1BAE60-9E98-A565-720F-A1DCF811D2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5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0B9A825-E26D-C1B5-B8C3-434DE57F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7619319" cy="982371"/>
          </a:xfrm>
        </p:spPr>
        <p:txBody>
          <a:bodyPr>
            <a:normAutofit/>
          </a:bodyPr>
          <a:lstStyle/>
          <a:p>
            <a:r>
              <a:rPr lang="de-DE" dirty="0"/>
              <a:t>Use requires a paid plan and a GitHub account</a:t>
            </a:r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678EEE2-89CC-4293-2EAA-70B0E2D9A929}"/>
              </a:ext>
            </a:extLst>
          </p:cNvPr>
          <p:cNvSpPr txBox="1">
            <a:spLocks/>
          </p:cNvSpPr>
          <p:nvPr/>
        </p:nvSpPr>
        <p:spPr>
          <a:xfrm>
            <a:off x="528638" y="3781028"/>
            <a:ext cx="10515600" cy="1325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CH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CH" b="1" dirty="0"/>
              <a:t>Can be used immediately at a cost of approx. 20 francs per month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2B836E9-DFFB-C0AD-B9B2-D8287FE781BE}"/>
              </a:ext>
            </a:extLst>
          </p:cNvPr>
          <p:cNvSpPr txBox="1">
            <a:spLocks/>
          </p:cNvSpPr>
          <p:nvPr/>
        </p:nvSpPr>
        <p:spPr>
          <a:xfrm>
            <a:off x="528638" y="2321469"/>
            <a:ext cx="10515600" cy="1325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de-CH" dirty="0"/>
              <a:t> Paid Claude plan (at least Pro)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CH" dirty="0"/>
              <a:t> GitHub account on the public github.com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CH" dirty="0"/>
              <a:t> Access rights to GitHub </a:t>
            </a:r>
            <a:r>
              <a:rPr lang="de-CH" dirty="0" err="1"/>
              <a:t>repositories</a:t>
            </a:r>
            <a:r>
              <a:rPr lang="de-CH" dirty="0"/>
              <a:t> for Claude Code</a:t>
            </a:r>
          </a:p>
        </p:txBody>
      </p:sp>
    </p:spTree>
    <p:extLst>
      <p:ext uri="{BB962C8B-B14F-4D97-AF65-F5344CB8AC3E}">
        <p14:creationId xmlns:p14="http://schemas.microsoft.com/office/powerpoint/2010/main" val="194931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AE0B-F0E3-792C-4A0E-F0D1F3F7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81508B-7A8C-8192-4D49-485EB04B17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6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AF0A932-EAE7-D4FE-9651-E5CE9CCB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How Claude Code works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DE8B512-C3BC-6CB7-07E4-6A66B812B767}"/>
              </a:ext>
            </a:extLst>
          </p:cNvPr>
          <p:cNvSpPr/>
          <p:nvPr/>
        </p:nvSpPr>
        <p:spPr>
          <a:xfrm>
            <a:off x="1199456" y="3356992"/>
            <a:ext cx="3096344" cy="11521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repo</a:t>
            </a:r>
          </a:p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(private or public)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52E86F1-1B3B-57D0-F188-0F7B696354E0}"/>
              </a:ext>
            </a:extLst>
          </p:cNvPr>
          <p:cNvSpPr/>
          <p:nvPr/>
        </p:nvSpPr>
        <p:spPr>
          <a:xfrm>
            <a:off x="8112224" y="3356992"/>
            <a:ext cx="3096344" cy="11521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Code (claude.ai/code)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D273A3F-83EF-2FE2-CE4C-883FF0DB87CF}"/>
              </a:ext>
            </a:extLst>
          </p:cNvPr>
          <p:cNvGrpSpPr/>
          <p:nvPr/>
        </p:nvGrpSpPr>
        <p:grpSpPr>
          <a:xfrm>
            <a:off x="5777752" y="2320913"/>
            <a:ext cx="648072" cy="1008112"/>
            <a:chOff x="2135560" y="4725144"/>
            <a:chExt cx="936104" cy="1656184"/>
          </a:xfrm>
          <a:solidFill>
            <a:schemeClr val="accent6">
              <a:lumMod val="75000"/>
            </a:schemeClr>
          </a:solidFill>
        </p:grpSpPr>
        <p:sp>
          <p:nvSpPr>
            <p:cNvPr id="13" name="Flussdiagramm: Verzögerung 12">
              <a:extLst>
                <a:ext uri="{FF2B5EF4-FFF2-40B4-BE49-F238E27FC236}">
                  <a16:creationId xmlns:a16="http://schemas.microsoft.com/office/drawing/2014/main" id="{54196287-F4D8-DB6D-17E2-CD6655C18ADF}"/>
                </a:ext>
              </a:extLst>
            </p:cNvPr>
            <p:cNvSpPr/>
            <p:nvPr/>
          </p:nvSpPr>
          <p:spPr>
            <a:xfrm rot="16200000">
              <a:off x="2099556" y="5409220"/>
              <a:ext cx="1008112" cy="936104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900B731A-CCB0-CD3D-3FDD-B56AE8C9B0B6}"/>
                </a:ext>
              </a:extLst>
            </p:cNvPr>
            <p:cNvSpPr/>
            <p:nvPr/>
          </p:nvSpPr>
          <p:spPr>
            <a:xfrm>
              <a:off x="2315580" y="4725144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82AEB40C-BDF6-7331-BE61-B3F657B52C92}"/>
              </a:ext>
            </a:extLst>
          </p:cNvPr>
          <p:cNvSpPr/>
          <p:nvPr/>
        </p:nvSpPr>
        <p:spPr>
          <a:xfrm>
            <a:off x="1733728" y="5354991"/>
            <a:ext cx="2027800" cy="6775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branch</a:t>
            </a:r>
          </a:p>
        </p:txBody>
      </p:sp>
      <p:cxnSp>
        <p:nvCxnSpPr>
          <p:cNvPr id="16" name="Verbinder: gekrümmt 15">
            <a:extLst>
              <a:ext uri="{FF2B5EF4-FFF2-40B4-BE49-F238E27FC236}">
                <a16:creationId xmlns:a16="http://schemas.microsoft.com/office/drawing/2014/main" id="{1A5D1649-C232-1458-C87A-C2E623E332AE}"/>
              </a:ext>
            </a:extLst>
          </p:cNvPr>
          <p:cNvCxnSpPr>
            <a:stCxn id="11" idx="2"/>
            <a:endCxn id="15" idx="3"/>
          </p:cNvCxnSpPr>
          <p:nvPr/>
        </p:nvCxnSpPr>
        <p:spPr>
          <a:xfrm rot="5400000">
            <a:off x="6118634" y="2152014"/>
            <a:ext cx="1184657" cy="5898868"/>
          </a:xfrm>
          <a:prstGeom prst="curved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43697F6B-8330-42B3-C8BD-F485F2D08A89}"/>
              </a:ext>
            </a:extLst>
          </p:cNvPr>
          <p:cNvSpPr/>
          <p:nvPr/>
        </p:nvSpPr>
        <p:spPr>
          <a:xfrm>
            <a:off x="6960095" y="5444397"/>
            <a:ext cx="2142239" cy="825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and edited in an isolated sandbox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656647C-18DF-ED37-70AB-79CDECCABD89}"/>
              </a:ext>
            </a:extLst>
          </p:cNvPr>
          <p:cNvCxnSpPr>
            <a:stCxn id="2" idx="2"/>
            <a:endCxn id="15" idx="0"/>
          </p:cNvCxnSpPr>
          <p:nvPr/>
        </p:nvCxnSpPr>
        <p:spPr>
          <a:xfrm>
            <a:off x="2747628" y="4509120"/>
            <a:ext cx="0" cy="8458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Verbinder: gekrümmt 18">
            <a:extLst>
              <a:ext uri="{FF2B5EF4-FFF2-40B4-BE49-F238E27FC236}">
                <a16:creationId xmlns:a16="http://schemas.microsoft.com/office/drawing/2014/main" id="{66E6A170-D06B-3BF4-4F94-D2FB607986ED}"/>
              </a:ext>
            </a:extLst>
          </p:cNvPr>
          <p:cNvCxnSpPr>
            <a:cxnSpLocks/>
            <a:endCxn id="2" idx="0"/>
          </p:cNvCxnSpPr>
          <p:nvPr/>
        </p:nvCxnSpPr>
        <p:spPr>
          <a:xfrm rot="10800000" flipV="1">
            <a:off x="2747629" y="3022208"/>
            <a:ext cx="3030123" cy="334784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9A4B9CCB-2D55-B902-427F-C5BEE248D8CD}"/>
              </a:ext>
            </a:extLst>
          </p:cNvPr>
          <p:cNvSpPr/>
          <p:nvPr/>
        </p:nvSpPr>
        <p:spPr>
          <a:xfrm>
            <a:off x="3216954" y="2492898"/>
            <a:ext cx="191272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and populated via push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A3F2D67-3E0D-996C-14C1-1FD0CB730D33}"/>
              </a:ext>
            </a:extLst>
          </p:cNvPr>
          <p:cNvCxnSpPr>
            <a:stCxn id="11" idx="1"/>
            <a:endCxn id="2" idx="3"/>
          </p:cNvCxnSpPr>
          <p:nvPr/>
        </p:nvCxnSpPr>
        <p:spPr>
          <a:xfrm flipH="1">
            <a:off x="4295800" y="3933056"/>
            <a:ext cx="3816424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480304D4-16D4-2D19-975E-EA90E5E325C0}"/>
              </a:ext>
            </a:extLst>
          </p:cNvPr>
          <p:cNvSpPr/>
          <p:nvPr/>
        </p:nvSpPr>
        <p:spPr>
          <a:xfrm>
            <a:off x="6592731" y="3780077"/>
            <a:ext cx="1644610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content</a:t>
            </a:r>
          </a:p>
        </p:txBody>
      </p:sp>
      <p:cxnSp>
        <p:nvCxnSpPr>
          <p:cNvPr id="23" name="Verbinder: gekrümmt 22">
            <a:extLst>
              <a:ext uri="{FF2B5EF4-FFF2-40B4-BE49-F238E27FC236}">
                <a16:creationId xmlns:a16="http://schemas.microsoft.com/office/drawing/2014/main" id="{3574ABF8-E778-2444-A06A-D314C4971D8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425823" y="3022208"/>
            <a:ext cx="3234573" cy="334784"/>
          </a:xfrm>
          <a:prstGeom prst="curved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CCA063BD-A5E5-BC57-770C-869388B529C2}"/>
              </a:ext>
            </a:extLst>
          </p:cNvPr>
          <p:cNvSpPr/>
          <p:nvPr/>
        </p:nvSpPr>
        <p:spPr>
          <a:xfrm>
            <a:off x="7095940" y="2427359"/>
            <a:ext cx="191272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task in the web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1F4745B-95E5-2FCC-A6A4-A26E137608A1}"/>
              </a:ext>
            </a:extLst>
          </p:cNvPr>
          <p:cNvSpPr/>
          <p:nvPr/>
        </p:nvSpPr>
        <p:spPr>
          <a:xfrm>
            <a:off x="2884318" y="4694817"/>
            <a:ext cx="1368152" cy="553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Pull request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3066612-0466-6F08-029F-CC41D09E4721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3568394" y="5248204"/>
            <a:ext cx="0" cy="1067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48C1038-B87D-462B-BDA5-BA9D6170EFE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568394" y="4454909"/>
            <a:ext cx="0" cy="2399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Verbinder: gekrümmt 27">
            <a:extLst>
              <a:ext uri="{FF2B5EF4-FFF2-40B4-BE49-F238E27FC236}">
                <a16:creationId xmlns:a16="http://schemas.microsoft.com/office/drawing/2014/main" id="{EF2A93E6-CA82-0A3E-D9B0-FB2E9EED92D7}"/>
              </a:ext>
            </a:extLst>
          </p:cNvPr>
          <p:cNvCxnSpPr>
            <a:cxnSpLocks/>
            <a:endCxn id="25" idx="3"/>
          </p:cNvCxnSpPr>
          <p:nvPr/>
        </p:nvCxnSpPr>
        <p:spPr>
          <a:xfrm rot="10800000" flipV="1">
            <a:off x="4252471" y="3329025"/>
            <a:ext cx="1849321" cy="1642486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C415B374-5BFC-A91D-10BD-2F8A7B99A9A3}"/>
              </a:ext>
            </a:extLst>
          </p:cNvPr>
          <p:cNvSpPr/>
          <p:nvPr/>
        </p:nvSpPr>
        <p:spPr>
          <a:xfrm>
            <a:off x="4708946" y="4672140"/>
            <a:ext cx="200201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Created, </a:t>
            </a:r>
            <a:r>
              <a:rPr lang="de-CH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reviewed</a:t>
            </a:r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merged</a:t>
            </a:r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870EC0AA-9C6B-EC50-0C73-2C46ED4B866E}"/>
              </a:ext>
            </a:extLst>
          </p:cNvPr>
          <p:cNvCxnSpPr/>
          <p:nvPr/>
        </p:nvCxnSpPr>
        <p:spPr>
          <a:xfrm>
            <a:off x="4295800" y="3614698"/>
            <a:ext cx="3816424" cy="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EE109616-5B1F-FA9E-E5E6-98DF489115B9}"/>
              </a:ext>
            </a:extLst>
          </p:cNvPr>
          <p:cNvSpPr/>
          <p:nvPr/>
        </p:nvSpPr>
        <p:spPr>
          <a:xfrm>
            <a:off x="1414264" y="1535954"/>
            <a:ext cx="191272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Pull for local use</a:t>
            </a:r>
          </a:p>
        </p:txBody>
      </p:sp>
      <p:cxnSp>
        <p:nvCxnSpPr>
          <p:cNvPr id="32" name="Verbinder: gekrümmt 31">
            <a:extLst>
              <a:ext uri="{FF2B5EF4-FFF2-40B4-BE49-F238E27FC236}">
                <a16:creationId xmlns:a16="http://schemas.microsoft.com/office/drawing/2014/main" id="{AA0168AC-B48B-389E-85E8-02E01E9DC23C}"/>
              </a:ext>
            </a:extLst>
          </p:cNvPr>
          <p:cNvCxnSpPr>
            <a:cxnSpLocks/>
            <a:stCxn id="2" idx="1"/>
            <a:endCxn id="14" idx="1"/>
          </p:cNvCxnSpPr>
          <p:nvPr/>
        </p:nvCxnSpPr>
        <p:spPr>
          <a:xfrm rot="10800000" flipH="1">
            <a:off x="1199456" y="2372264"/>
            <a:ext cx="4761330" cy="1560792"/>
          </a:xfrm>
          <a:prstGeom prst="curvedConnector4">
            <a:avLst>
              <a:gd name="adj1" fmla="val -5407"/>
              <a:gd name="adj2" fmla="val 11793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Image 0">
            <a:extLst>
              <a:ext uri="{FF2B5EF4-FFF2-40B4-BE49-F238E27FC236}">
                <a16:creationId xmlns:a16="http://schemas.microsoft.com/office/drawing/2014/main" id="{0C37E894-F99D-E1B1-98F2-73B236893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778" y="3447998"/>
            <a:ext cx="438912" cy="438912"/>
          </a:xfrm>
          <a:prstGeom prst="rect">
            <a:avLst/>
          </a:prstGeom>
        </p:spPr>
      </p:pic>
      <p:pic>
        <p:nvPicPr>
          <p:cNvPr id="34" name="Image 6">
            <a:extLst>
              <a:ext uri="{FF2B5EF4-FFF2-40B4-BE49-F238E27FC236}">
                <a16:creationId xmlns:a16="http://schemas.microsoft.com/office/drawing/2014/main" id="{4023F3F7-97D8-EE16-D987-C65711617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684" y="4688130"/>
            <a:ext cx="253923" cy="253923"/>
          </a:xfrm>
          <a:prstGeom prst="rect">
            <a:avLst/>
          </a:prstGeom>
        </p:spPr>
      </p:pic>
      <p:pic>
        <p:nvPicPr>
          <p:cNvPr id="35" name="Grafik 34" descr="Claude Logo PNG Vector (SVG) Free Download">
            <a:extLst>
              <a:ext uri="{FF2B5EF4-FFF2-40B4-BE49-F238E27FC236}">
                <a16:creationId xmlns:a16="http://schemas.microsoft.com/office/drawing/2014/main" id="{84930154-EB15-A673-D66E-A614EADFA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496" y="3393109"/>
            <a:ext cx="526844" cy="516377"/>
          </a:xfrm>
          <a:prstGeom prst="rect">
            <a:avLst/>
          </a:prstGeom>
        </p:spPr>
      </p:pic>
      <p:sp>
        <p:nvSpPr>
          <p:cNvPr id="36" name="Halbbogen 35">
            <a:extLst>
              <a:ext uri="{FF2B5EF4-FFF2-40B4-BE49-F238E27FC236}">
                <a16:creationId xmlns:a16="http://schemas.microsoft.com/office/drawing/2014/main" id="{118EB6B0-1B29-5252-245F-1587F2D4F5F5}"/>
              </a:ext>
            </a:extLst>
          </p:cNvPr>
          <p:cNvSpPr/>
          <p:nvPr/>
        </p:nvSpPr>
        <p:spPr>
          <a:xfrm>
            <a:off x="8544272" y="5264397"/>
            <a:ext cx="359976" cy="360000"/>
          </a:xfrm>
          <a:prstGeom prst="blockArc">
            <a:avLst>
              <a:gd name="adj1" fmla="val 10498910"/>
              <a:gd name="adj2" fmla="val 5297819"/>
              <a:gd name="adj3" fmla="val 2326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122CD45-C81F-5F74-6AD3-0452AC6A210D}"/>
              </a:ext>
            </a:extLst>
          </p:cNvPr>
          <p:cNvSpPr/>
          <p:nvPr/>
        </p:nvSpPr>
        <p:spPr>
          <a:xfrm>
            <a:off x="8338925" y="5149265"/>
            <a:ext cx="763410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4800" b="1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288771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5" grpId="0" animBg="1"/>
      <p:bldP spid="17" grpId="0"/>
      <p:bldP spid="20" grpId="0"/>
      <p:bldP spid="22" grpId="0"/>
      <p:bldP spid="24" grpId="0"/>
      <p:bldP spid="25" grpId="0" animBg="1"/>
      <p:bldP spid="29" grpId="0"/>
      <p:bldP spid="31" grpId="0"/>
      <p:bldP spid="36" grpId="0" animBg="1"/>
      <p:bldP spid="36" grpId="1" animBg="1"/>
      <p:bldP spid="36" grpId="2" animBg="1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843BB-2DC9-CEFD-B24B-F315EB09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084968-E6FE-C175-F8BA-044E104206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7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B0A9694-FF05-7E45-0298-6F7392F4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11183362" cy="476185"/>
          </a:xfrm>
        </p:spPr>
        <p:txBody>
          <a:bodyPr>
            <a:noAutofit/>
          </a:bodyPr>
          <a:lstStyle/>
          <a:p>
            <a:r>
              <a:rPr lang="de-CH" dirty="0"/>
              <a:t>Where to use Claude Code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324A67A-39DD-C838-761D-E9ED469401AE}"/>
              </a:ext>
            </a:extLst>
          </p:cNvPr>
          <p:cNvGrpSpPr/>
          <p:nvPr/>
        </p:nvGrpSpPr>
        <p:grpSpPr>
          <a:xfrm>
            <a:off x="6288055" y="1626422"/>
            <a:ext cx="5374673" cy="4134347"/>
            <a:chOff x="3276218" y="1484312"/>
            <a:chExt cx="2520001" cy="4134347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6BAD216A-0F49-4B53-5A56-1BBB71FDE11E}"/>
                </a:ext>
              </a:extLst>
            </p:cNvPr>
            <p:cNvSpPr/>
            <p:nvPr/>
          </p:nvSpPr>
          <p:spPr>
            <a:xfrm>
              <a:off x="3276218" y="1484312"/>
              <a:ext cx="2520000" cy="398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Inhaltsplatzhalter 1">
              <a:extLst>
                <a:ext uri="{FF2B5EF4-FFF2-40B4-BE49-F238E27FC236}">
                  <a16:creationId xmlns:a16="http://schemas.microsoft.com/office/drawing/2014/main" id="{BF385EA4-AC29-A26E-51DA-8D20C3B7ABB9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1882634"/>
              <a:ext cx="2520000" cy="37360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Small fixes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Working out precise visual corporate design specifications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Generating ideas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de-CH" sz="1800" b="1" dirty="0"/>
            </a:p>
            <a:p>
              <a:endParaRPr lang="de-CH" sz="1800" b="1" dirty="0"/>
            </a:p>
            <a:p>
              <a:endParaRPr lang="de-CH" sz="1800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93CAC56-7B53-A23B-1889-527CE1640209}"/>
              </a:ext>
            </a:extLst>
          </p:cNvPr>
          <p:cNvGrpSpPr/>
          <p:nvPr/>
        </p:nvGrpSpPr>
        <p:grpSpPr>
          <a:xfrm>
            <a:off x="529271" y="1626422"/>
            <a:ext cx="5374673" cy="4137564"/>
            <a:chOff x="3276218" y="1484312"/>
            <a:chExt cx="2520001" cy="4682304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8D83EEF-A281-4BE2-7606-CF6F33404D4D}"/>
                </a:ext>
              </a:extLst>
            </p:cNvPr>
            <p:cNvSpPr/>
            <p:nvPr/>
          </p:nvSpPr>
          <p:spPr>
            <a:xfrm>
              <a:off x="3276218" y="1484312"/>
              <a:ext cx="2520000" cy="398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b="1" dirty="0">
                  <a:solidFill>
                    <a:schemeClr val="tx1"/>
                  </a:solidFill>
                </a:rPr>
                <a:t>Chatbot (ChatGPT, Claude, etc.)</a:t>
              </a:r>
            </a:p>
          </p:txBody>
        </p:sp>
        <p:sp>
          <p:nvSpPr>
            <p:cNvPr id="26" name="Inhaltsplatzhalter 1">
              <a:extLst>
                <a:ext uri="{FF2B5EF4-FFF2-40B4-BE49-F238E27FC236}">
                  <a16:creationId xmlns:a16="http://schemas.microsoft.com/office/drawing/2014/main" id="{AE1DA8F6-6E66-FB2C-00F7-CFD8D5C92160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1882634"/>
              <a:ext cx="2520000" cy="4283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 err="1"/>
                <a:t>Prototyping</a:t>
              </a:r>
              <a:r>
                <a:rPr lang="de-CH" sz="1800" dirty="0"/>
                <a:t> (dashboards, pipelines, reports)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(extensive) documentation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Time-consuming fixes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dirty="0"/>
                <a:t>Understanding larger codebases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800" i="1" dirty="0"/>
                <a:t>«Whenever knowledge needs to be transferred from A to B»</a:t>
              </a:r>
            </a:p>
            <a:p>
              <a:endParaRPr lang="de-CH" sz="1800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  <a:p>
              <a:endParaRPr lang="de-CH" sz="1800" b="1" dirty="0"/>
            </a:p>
          </p:txBody>
        </p:sp>
      </p:grpSp>
      <p:sp>
        <p:nvSpPr>
          <p:cNvPr id="28" name="Rechteck 27">
            <a:extLst>
              <a:ext uri="{FF2B5EF4-FFF2-40B4-BE49-F238E27FC236}">
                <a16:creationId xmlns:a16="http://schemas.microsoft.com/office/drawing/2014/main" id="{EE1B051C-F69B-C0E8-834A-ED675B6836FC}"/>
              </a:ext>
            </a:extLst>
          </p:cNvPr>
          <p:cNvSpPr/>
          <p:nvPr/>
        </p:nvSpPr>
        <p:spPr>
          <a:xfrm>
            <a:off x="529271" y="1626422"/>
            <a:ext cx="5374671" cy="398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77800E-E44C-0BDB-B700-66BDBDD02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24" y="1172195"/>
            <a:ext cx="1087829" cy="108782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DE3135-3BC8-537E-E993-CC0911553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855" y="1232997"/>
            <a:ext cx="1087200" cy="1087200"/>
          </a:xfrm>
          <a:prstGeom prst="rect">
            <a:avLst/>
          </a:prstGeom>
        </p:spPr>
      </p:pic>
      <p:sp>
        <p:nvSpPr>
          <p:cNvPr id="9" name="Titel 3">
            <a:extLst>
              <a:ext uri="{FF2B5EF4-FFF2-40B4-BE49-F238E27FC236}">
                <a16:creationId xmlns:a16="http://schemas.microsoft.com/office/drawing/2014/main" id="{CD774A7F-BCED-7448-703A-F5C0D2FADEE4}"/>
              </a:ext>
            </a:extLst>
          </p:cNvPr>
          <p:cNvSpPr txBox="1">
            <a:spLocks/>
          </p:cNvSpPr>
          <p:nvPr/>
        </p:nvSpPr>
        <p:spPr>
          <a:xfrm>
            <a:off x="528638" y="1060023"/>
            <a:ext cx="11183362" cy="47618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dirty="0"/>
              <a:t>...and where less so</a:t>
            </a:r>
          </a:p>
        </p:txBody>
      </p:sp>
    </p:spTree>
    <p:extLst>
      <p:ext uri="{BB962C8B-B14F-4D97-AF65-F5344CB8AC3E}">
        <p14:creationId xmlns:p14="http://schemas.microsoft.com/office/powerpoint/2010/main" val="168882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AC1B-5106-11BB-FC6D-C3994487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0C3BE51-E8D9-3904-2E27-550EE167F9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8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659C756-CD4E-BF12-CF41-6DDFD184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5 tips for saving tokens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6D672C3-BBCC-76CB-55BD-292CB0AA5383}"/>
              </a:ext>
            </a:extLst>
          </p:cNvPr>
          <p:cNvGrpSpPr/>
          <p:nvPr/>
        </p:nvGrpSpPr>
        <p:grpSpPr>
          <a:xfrm>
            <a:off x="2713837" y="1625628"/>
            <a:ext cx="1974289" cy="4683097"/>
            <a:chOff x="3276215" y="1483518"/>
            <a:chExt cx="2520004" cy="468309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A50CA41F-64BA-FEA7-6E91-B06E1E01D2A2}"/>
                </a:ext>
              </a:extLst>
            </p:cNvPr>
            <p:cNvSpPr/>
            <p:nvPr/>
          </p:nvSpPr>
          <p:spPr>
            <a:xfrm>
              <a:off x="3276215" y="1483518"/>
              <a:ext cx="2520000" cy="19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9" name="Inhaltsplatzhalter 1">
              <a:extLst>
                <a:ext uri="{FF2B5EF4-FFF2-40B4-BE49-F238E27FC236}">
                  <a16:creationId xmlns:a16="http://schemas.microsoft.com/office/drawing/2014/main" id="{4C9CA3EB-4D68-082F-0E4A-DB02EB0D70F0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3464312"/>
              <a:ext cx="2520000" cy="2702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800" b="1" dirty="0"/>
                <a:t>Claude.md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600" dirty="0"/>
                <a:t>short Claude.md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600" dirty="0"/>
                <a:t>general requirements for the </a:t>
              </a:r>
              <a:r>
                <a:rPr lang="de-CH" sz="1600" dirty="0" err="1"/>
                <a:t>tech stack</a:t>
              </a:r>
              <a:r>
                <a:rPr lang="de-CH" sz="1600" dirty="0"/>
                <a:t> as well as «Dos and </a:t>
              </a:r>
              <a:r>
                <a:rPr lang="de-CH" sz="1600" dirty="0" err="1"/>
                <a:t>Don'ts</a:t>
              </a:r>
              <a:r>
                <a:rPr lang="de-CH" sz="1600" dirty="0"/>
                <a:t>»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19D8ACD-DAA9-BD5F-63F7-2A38D111A268}"/>
              </a:ext>
            </a:extLst>
          </p:cNvPr>
          <p:cNvGrpSpPr/>
          <p:nvPr/>
        </p:nvGrpSpPr>
        <p:grpSpPr>
          <a:xfrm>
            <a:off x="491328" y="1625628"/>
            <a:ext cx="1974287" cy="4683097"/>
            <a:chOff x="3276219" y="1484312"/>
            <a:chExt cx="2520000" cy="4683097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0CF3744-F94E-B066-B8CF-A185C1ABE7FA}"/>
                </a:ext>
              </a:extLst>
            </p:cNvPr>
            <p:cNvSpPr/>
            <p:nvPr/>
          </p:nvSpPr>
          <p:spPr>
            <a:xfrm>
              <a:off x="3276220" y="1484312"/>
              <a:ext cx="2519999" cy="19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Inhaltsplatzhalter 1">
              <a:extLst>
                <a:ext uri="{FF2B5EF4-FFF2-40B4-BE49-F238E27FC236}">
                  <a16:creationId xmlns:a16="http://schemas.microsoft.com/office/drawing/2014/main" id="{7BA17FC0-F128-9CDC-4A00-0C32E5897005}"/>
                </a:ext>
              </a:extLst>
            </p:cNvPr>
            <p:cNvSpPr txBox="1">
              <a:spLocks/>
            </p:cNvSpPr>
            <p:nvPr/>
          </p:nvSpPr>
          <p:spPr>
            <a:xfrm>
              <a:off x="3276219" y="3464312"/>
              <a:ext cx="2520000" cy="27030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108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800" b="1" dirty="0"/>
                <a:t>Renew session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600" dirty="0"/>
                <a:t>One task = one session.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sz="1600" dirty="0"/>
                <a:t>Too much context makes answers worse and more expensive</a:t>
              </a:r>
            </a:p>
          </p:txBody>
        </p:sp>
      </p:grp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EA4A0A5-8EA5-2008-5393-33C679F84445}"/>
              </a:ext>
            </a:extLst>
          </p:cNvPr>
          <p:cNvSpPr txBox="1">
            <a:spLocks/>
          </p:cNvSpPr>
          <p:nvPr/>
        </p:nvSpPr>
        <p:spPr>
          <a:xfrm>
            <a:off x="4936352" y="3606422"/>
            <a:ext cx="1974286" cy="27023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08000" tIns="72000" rIns="108000" bIns="72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/>
              <a:t>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Be precise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Give exact file paths and line numbers</a:t>
            </a:r>
            <a:endParaRPr lang="de-CH" sz="1600" dirty="0"/>
          </a:p>
        </p:txBody>
      </p:sp>
      <p:sp>
        <p:nvSpPr>
          <p:cNvPr id="33" name="Inhaltsplatzhalter 1">
            <a:extLst>
              <a:ext uri="{FF2B5EF4-FFF2-40B4-BE49-F238E27FC236}">
                <a16:creationId xmlns:a16="http://schemas.microsoft.com/office/drawing/2014/main" id="{B75C85F4-AF69-12BB-3929-172A2E162143}"/>
              </a:ext>
            </a:extLst>
          </p:cNvPr>
          <p:cNvSpPr txBox="1">
            <a:spLocks/>
          </p:cNvSpPr>
          <p:nvPr/>
        </p:nvSpPr>
        <p:spPr>
          <a:xfrm>
            <a:off x="7158862" y="3605628"/>
            <a:ext cx="1974286" cy="27023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08000" tIns="72000" rIns="108000" bIns="72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/>
              <a:t>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Right model for the respective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Don't switch model </a:t>
            </a:r>
            <a:r>
              <a:rPr lang="de-DE" sz="1600" i="1" u="sng" dirty="0"/>
              <a:t>within </a:t>
            </a:r>
            <a:r>
              <a:rPr lang="de-DE" sz="1600" dirty="0"/>
              <a:t>the session</a:t>
            </a:r>
            <a:endParaRPr lang="de-CH" sz="1600" dirty="0"/>
          </a:p>
        </p:txBody>
      </p:sp>
      <p:sp>
        <p:nvSpPr>
          <p:cNvPr id="38" name="Inhaltsplatzhalter 1">
            <a:extLst>
              <a:ext uri="{FF2B5EF4-FFF2-40B4-BE49-F238E27FC236}">
                <a16:creationId xmlns:a16="http://schemas.microsoft.com/office/drawing/2014/main" id="{60E4AC91-5447-DBEB-FF50-3477E97743EF}"/>
              </a:ext>
            </a:extLst>
          </p:cNvPr>
          <p:cNvSpPr txBox="1">
            <a:spLocks/>
          </p:cNvSpPr>
          <p:nvPr/>
        </p:nvSpPr>
        <p:spPr>
          <a:xfrm>
            <a:off x="9381370" y="3605628"/>
            <a:ext cx="1974286" cy="27023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08000" tIns="72000" rIns="108000" bIns="72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/>
              <a:t>Plan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Enables a precise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Editable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Saves tokens in the long run</a:t>
            </a:r>
            <a:endParaRPr lang="de-CH" sz="1600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BCAC83C-3949-EF37-14B9-7FE0218C8741}"/>
              </a:ext>
            </a:extLst>
          </p:cNvPr>
          <p:cNvSpPr/>
          <p:nvPr/>
        </p:nvSpPr>
        <p:spPr>
          <a:xfrm>
            <a:off x="4936352" y="1625628"/>
            <a:ext cx="1974286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350A1B7-70F6-1785-9CE6-29EF7B1C24DC}"/>
              </a:ext>
            </a:extLst>
          </p:cNvPr>
          <p:cNvSpPr/>
          <p:nvPr/>
        </p:nvSpPr>
        <p:spPr>
          <a:xfrm>
            <a:off x="7158862" y="1625628"/>
            <a:ext cx="1974286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B49B714-58F0-3F68-87C3-7D5D3A6EFCB6}"/>
              </a:ext>
            </a:extLst>
          </p:cNvPr>
          <p:cNvSpPr/>
          <p:nvPr/>
        </p:nvSpPr>
        <p:spPr>
          <a:xfrm>
            <a:off x="9381370" y="1625628"/>
            <a:ext cx="1974286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CAC65CBA-7461-D0AA-2C83-9CD8C0036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10" y="1942968"/>
            <a:ext cx="1345321" cy="1345321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D8F7706E-6631-0474-2EF5-5B6AAB4C29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07" y="1941889"/>
            <a:ext cx="1346400" cy="13464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C8B95AAB-EAB9-2267-1FF8-40EC0FEE927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313" y="1941889"/>
            <a:ext cx="1346400" cy="13464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CA1BFE0E-BFEA-D793-F8D9-4121DA5FC2A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544" y="1941889"/>
            <a:ext cx="1346400" cy="1346400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38550258-A956-2F2D-E68D-A9BAC8F4387B}"/>
              </a:ext>
            </a:extLst>
          </p:cNvPr>
          <p:cNvSpPr/>
          <p:nvPr/>
        </p:nvSpPr>
        <p:spPr>
          <a:xfrm>
            <a:off x="7355616" y="2043782"/>
            <a:ext cx="1580777" cy="114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chemeClr val="tx1"/>
                </a:solidFill>
              </a:rPr>
              <a:t>✔ Sonnet 5</a:t>
            </a:r>
          </a:p>
          <a:p>
            <a:r>
              <a:rPr lang="de-CH" b="1" dirty="0">
                <a:solidFill>
                  <a:schemeClr val="tx1"/>
                </a:solidFill>
              </a:rPr>
              <a:t>    Opus 5</a:t>
            </a:r>
          </a:p>
          <a:p>
            <a:r>
              <a:rPr lang="de-CH" b="1" dirty="0">
                <a:solidFill>
                  <a:schemeClr val="tx1"/>
                </a:solidFill>
              </a:rPr>
              <a:t>    Haiku 5</a:t>
            </a:r>
          </a:p>
        </p:txBody>
      </p:sp>
    </p:spTree>
    <p:extLst>
      <p:ext uri="{BB962C8B-B14F-4D97-AF65-F5344CB8AC3E}">
        <p14:creationId xmlns:p14="http://schemas.microsoft.com/office/powerpoint/2010/main" val="291288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8" grpId="0" animBg="1"/>
      <p:bldP spid="40" grpId="0" animBg="1"/>
      <p:bldP spid="42" grpId="0" animBg="1"/>
      <p:bldP spid="44" grpId="0" animBg="1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E1AA-B990-8BCC-E0A0-1F8AA41A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0EA0AB0-D2A7-9FE5-5477-27CDA3FE1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9</a:t>
            </a:fld>
            <a:endParaRPr lang="de-CH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9FE97CA-698C-8F8D-BF6D-5C78861475BB}"/>
              </a:ext>
            </a:extLst>
          </p:cNvPr>
          <p:cNvSpPr txBox="1">
            <a:spLocks/>
          </p:cNvSpPr>
          <p:nvPr/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Example: dashboard workflow</a:t>
            </a:r>
            <a:endParaRPr lang="de-CH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3211ACA-9275-AF33-C7C9-8F4A7DFEEB1E}"/>
              </a:ext>
            </a:extLst>
          </p:cNvPr>
          <p:cNvSpPr/>
          <p:nvPr/>
        </p:nvSpPr>
        <p:spPr>
          <a:xfrm>
            <a:off x="506413" y="1628774"/>
            <a:ext cx="900000" cy="1169289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endParaRPr lang="de-CH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11494B6-C1E2-2DDA-B910-2000ECCAC219}"/>
              </a:ext>
            </a:extLst>
          </p:cNvPr>
          <p:cNvSpPr/>
          <p:nvPr/>
        </p:nvSpPr>
        <p:spPr>
          <a:xfrm>
            <a:off x="1406413" y="1628775"/>
            <a:ext cx="9874036" cy="1169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chemeClr val="tx1"/>
                </a:solidFill>
              </a:rPr>
              <a:t>Starting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tx1"/>
                </a:solidFill>
              </a:rPr>
              <a:t>Repo with an “empty” skeleton (</a:t>
            </a:r>
            <a:r>
              <a:rPr lang="de-DE" sz="1400" dirty="0" err="1">
                <a:solidFill>
                  <a:schemeClr val="tx1"/>
                </a:solidFill>
              </a:rPr>
              <a:t>CSS</a:t>
            </a:r>
            <a:r>
              <a:rPr lang="de-DE" sz="1400" dirty="0">
                <a:solidFill>
                  <a:schemeClr val="tx1"/>
                </a:solidFill>
              </a:rPr>
              <a:t>, folder structure) for a dashboard in Thurgau 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chemeClr val="tx1"/>
                </a:solidFill>
              </a:rPr>
              <a:t>dbplyr</a:t>
            </a:r>
            <a:r>
              <a:rPr lang="de-DE" sz="1400" dirty="0">
                <a:solidFill>
                  <a:schemeClr val="tx1"/>
                </a:solidFill>
              </a:rPr>
              <a:t> code for retrieving data from the database</a:t>
            </a:r>
            <a:r>
              <a:rPr lang="de-CH" sz="1400" dirty="0">
                <a:solidFill>
                  <a:schemeClr val="tx1"/>
                </a:solidFill>
              </a:rPr>
              <a:t> in a </a:t>
            </a:r>
            <a:r>
              <a:rPr lang="de-CH" sz="1400" dirty="0" err="1">
                <a:solidFill>
                  <a:schemeClr val="tx1"/>
                </a:solidFill>
              </a:rPr>
              <a:t>views.R</a:t>
            </a:r>
            <a:r>
              <a:rPr lang="de-CH" sz="1400" dirty="0">
                <a:solidFill>
                  <a:schemeClr val="tx1"/>
                </a:solidFill>
              </a:rPr>
              <a:t>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400" dirty="0">
                <a:solidFill>
                  <a:schemeClr val="tx1"/>
                </a:solidFill>
              </a:rPr>
              <a:t>Claude.md indicating the </a:t>
            </a:r>
            <a:r>
              <a:rPr lang="de-CH" sz="1400" dirty="0" err="1">
                <a:solidFill>
                  <a:schemeClr val="tx1"/>
                </a:solidFill>
              </a:rPr>
              <a:t>techstack</a:t>
            </a:r>
            <a:r>
              <a:rPr lang="de-CH" sz="1400" dirty="0">
                <a:solidFill>
                  <a:schemeClr val="tx1"/>
                </a:solidFill>
              </a:rPr>
              <a:t> and noting that the database is not reachable, but the structure can be derived from the views</a:t>
            </a:r>
          </a:p>
          <a:p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Flussdiagramm: Verbinder 14">
            <a:extLst>
              <a:ext uri="{FF2B5EF4-FFF2-40B4-BE49-F238E27FC236}">
                <a16:creationId xmlns:a16="http://schemas.microsoft.com/office/drawing/2014/main" id="{19D94340-3145-EF54-07EC-B781118F5838}"/>
              </a:ext>
            </a:extLst>
          </p:cNvPr>
          <p:cNvSpPr/>
          <p:nvPr/>
        </p:nvSpPr>
        <p:spPr>
          <a:xfrm>
            <a:off x="596413" y="1808775"/>
            <a:ext cx="720000" cy="720000"/>
          </a:xfrm>
          <a:prstGeom prst="flowChartConnector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dirty="0"/>
              <a:t>START</a:t>
            </a:r>
            <a:endParaRPr lang="de-CH" sz="700" dirty="0"/>
          </a:p>
        </p:txBody>
      </p:sp>
      <p:sp>
        <p:nvSpPr>
          <p:cNvPr id="17" name="Flussdiagramm: Verbinder 16">
            <a:extLst>
              <a:ext uri="{FF2B5EF4-FFF2-40B4-BE49-F238E27FC236}">
                <a16:creationId xmlns:a16="http://schemas.microsoft.com/office/drawing/2014/main" id="{8FDE27C0-CA9E-EAB7-63B8-757018771D54}"/>
              </a:ext>
            </a:extLst>
          </p:cNvPr>
          <p:cNvSpPr/>
          <p:nvPr/>
        </p:nvSpPr>
        <p:spPr>
          <a:xfrm>
            <a:off x="645842" y="1862775"/>
            <a:ext cx="612000" cy="612000"/>
          </a:xfrm>
          <a:prstGeom prst="flowChartConnector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CH" sz="7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6C2A72E-5328-34FC-5600-E7B38A2E2563}"/>
              </a:ext>
            </a:extLst>
          </p:cNvPr>
          <p:cNvSpPr/>
          <p:nvPr/>
        </p:nvSpPr>
        <p:spPr>
          <a:xfrm>
            <a:off x="506413" y="2998503"/>
            <a:ext cx="900000" cy="1591786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endParaRPr lang="de-CH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9DB9EA-937B-13AE-9E27-6132CEBF2EDA}"/>
              </a:ext>
            </a:extLst>
          </p:cNvPr>
          <p:cNvSpPr/>
          <p:nvPr/>
        </p:nvSpPr>
        <p:spPr>
          <a:xfrm>
            <a:off x="1406413" y="2998503"/>
            <a:ext cx="9874036" cy="1591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chemeClr val="tx1"/>
                </a:solidFill>
              </a:rPr>
              <a:t>Prompt (example)</a:t>
            </a:r>
          </a:p>
          <a:p>
            <a:r>
              <a:rPr lang="de-CH" sz="1400" i="1" dirty="0">
                <a:solidFill>
                  <a:schemeClr val="tx1"/>
                </a:solidFill>
              </a:rPr>
              <a:t>«Fill the dashboard skeleton with sample data and working logic. Context: - </a:t>
            </a:r>
            <a:r>
              <a:rPr lang="de-CH" sz="1400" i="1" dirty="0" err="1">
                <a:solidFill>
                  <a:schemeClr val="tx1"/>
                </a:solidFill>
              </a:rPr>
              <a:t>Read</a:t>
            </a:r>
            <a:r>
              <a:rPr lang="de-CH" sz="1400" i="1" dirty="0">
                <a:solidFill>
                  <a:schemeClr val="tx1"/>
                </a:solidFill>
              </a:rPr>
              <a:t> CLAUDE.md for the </a:t>
            </a:r>
            <a:r>
              <a:rPr lang="de-CH" sz="1400" i="1" dirty="0" err="1">
                <a:solidFill>
                  <a:schemeClr val="tx1"/>
                </a:solidFill>
              </a:rPr>
              <a:t>tech stack</a:t>
            </a:r>
            <a:r>
              <a:rPr lang="de-CH" sz="1400" i="1" dirty="0">
                <a:solidFill>
                  <a:schemeClr val="tx1"/>
                </a:solidFill>
              </a:rPr>
              <a:t> and notes on the database - </a:t>
            </a:r>
            <a:r>
              <a:rPr lang="de-CH" sz="1400" i="1" dirty="0" err="1">
                <a:solidFill>
                  <a:schemeClr val="tx1"/>
                </a:solidFill>
              </a:rPr>
              <a:t>Read</a:t>
            </a:r>
            <a:r>
              <a:rPr lang="de-CH" sz="1400" i="1" dirty="0">
                <a:solidFill>
                  <a:schemeClr val="tx1"/>
                </a:solidFill>
              </a:rPr>
              <a:t> </a:t>
            </a:r>
            <a:r>
              <a:rPr lang="de-CH" sz="1400" i="1" dirty="0" err="1">
                <a:solidFill>
                  <a:schemeClr val="tx1"/>
                </a:solidFill>
              </a:rPr>
              <a:t>views.R</a:t>
            </a:r>
            <a:r>
              <a:rPr lang="de-CH" sz="1400" i="1" dirty="0">
                <a:solidFill>
                  <a:schemeClr val="tx1"/>
                </a:solidFill>
              </a:rPr>
              <a:t> to understand the structure of the views (columns, types, granularity) - The database is not reachable. Use the </a:t>
            </a:r>
            <a:r>
              <a:rPr lang="de-CH" sz="1400" i="1" dirty="0" err="1">
                <a:solidFill>
                  <a:schemeClr val="tx1"/>
                </a:solidFill>
              </a:rPr>
              <a:t>views</a:t>
            </a:r>
            <a:r>
              <a:rPr lang="de-CH" sz="1400" i="1" dirty="0">
                <a:solidFill>
                  <a:schemeClr val="tx1"/>
                </a:solidFill>
              </a:rPr>
              <a:t> Build the dashboard with 2-3 meaningful visualizations (time series, comparison by municipality/category) - Filters/inputs matching the dimensions of the views - KPI boxes at the top. Use existing CSS classes/folder structure, don't invent a new structure. Comment clearly and briefly.»</a:t>
            </a:r>
            <a:endParaRPr lang="de-DE" sz="1400" i="1" dirty="0">
              <a:solidFill>
                <a:schemeClr val="tx1"/>
              </a:solidFill>
            </a:endParaRP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36E96242-1DB9-66F0-B292-FBC3B5FFA8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13" y="3324444"/>
            <a:ext cx="939903" cy="939903"/>
          </a:xfrm>
          <a:prstGeom prst="rect">
            <a:avLst/>
          </a:prstGeom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7C479315-4C48-4CB1-DDF6-AED651EE37B9}"/>
              </a:ext>
            </a:extLst>
          </p:cNvPr>
          <p:cNvSpPr/>
          <p:nvPr/>
        </p:nvSpPr>
        <p:spPr>
          <a:xfrm>
            <a:off x="506413" y="4790729"/>
            <a:ext cx="900000" cy="1169999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endParaRPr lang="de-CH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CCDB0C2-3331-A262-623D-163FABCC1160}"/>
              </a:ext>
            </a:extLst>
          </p:cNvPr>
          <p:cNvSpPr/>
          <p:nvPr/>
        </p:nvSpPr>
        <p:spPr>
          <a:xfrm>
            <a:off x="1406413" y="4790728"/>
            <a:ext cx="9874036" cy="11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chemeClr val="tx1"/>
                </a:solidFill>
              </a:rPr>
              <a:t>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400" dirty="0">
                <a:solidFill>
                  <a:schemeClr val="tx1"/>
                </a:solidFill>
              </a:rPr>
              <a:t>Functional dashboard that can be further developed (usually also with Claude Code)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31EECD0C-4958-8204-1B60-56AD69301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74" y="4984060"/>
            <a:ext cx="783336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9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30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1CDC-B442-C30C-48E8-130F4C6B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D3845E-5F94-174F-FF83-CAAB8F562B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10</a:t>
            </a:fld>
            <a:endParaRPr lang="de-CH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40B8D29-DEDF-6A63-F3A6-C90144AECC4F}"/>
              </a:ext>
            </a:extLst>
          </p:cNvPr>
          <p:cNvSpPr txBox="1">
            <a:spLocks/>
          </p:cNvSpPr>
          <p:nvPr/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claudecoder</a:t>
            </a:r>
            <a:r>
              <a:rPr lang="de-DE" dirty="0"/>
              <a:t>: an R package for the right setup</a:t>
            </a:r>
            <a:endParaRPr lang="de-CH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152FB7F3-FEBD-7EA2-AE86-CC945444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80" y="1585282"/>
            <a:ext cx="4079400" cy="1533519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F624BDC0-6E1E-A2DA-BA52-D57CE635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088" y="4276139"/>
            <a:ext cx="5791584" cy="2225983"/>
          </a:xfrm>
          <a:prstGeom prst="rect">
            <a:avLst/>
          </a:prstGeom>
        </p:spPr>
      </p:pic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6EE763B-DE75-0210-966C-0BC0DE391608}"/>
              </a:ext>
            </a:extLst>
          </p:cNvPr>
          <p:cNvCxnSpPr>
            <a:stCxn id="34" idx="2"/>
            <a:endCxn id="39" idx="0"/>
          </p:cNvCxnSpPr>
          <p:nvPr/>
        </p:nvCxnSpPr>
        <p:spPr>
          <a:xfrm>
            <a:off x="5594880" y="3118801"/>
            <a:ext cx="0" cy="11573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91A352BF-5A00-4FC6-0A3C-56109A572486}"/>
              </a:ext>
            </a:extLst>
          </p:cNvPr>
          <p:cNvSpPr/>
          <p:nvPr/>
        </p:nvSpPr>
        <p:spPr>
          <a:xfrm>
            <a:off x="707203" y="1614389"/>
            <a:ext cx="2278951" cy="1159200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CH" sz="1600" dirty="0">
                <a:solidFill>
                  <a:srgbClr val="FFFFFF"/>
                </a:solidFill>
              </a:rPr>
              <a:t>Sets up the repo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3F04229-CFD5-A14F-AAB8-0C6241FBF1EB}"/>
              </a:ext>
            </a:extLst>
          </p:cNvPr>
          <p:cNvSpPr/>
          <p:nvPr/>
        </p:nvSpPr>
        <p:spPr>
          <a:xfrm>
            <a:off x="702047" y="2898078"/>
            <a:ext cx="2278951" cy="1159200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CH" sz="1600" dirty="0">
                <a:solidFill>
                  <a:srgbClr val="FFFFFF"/>
                </a:solidFill>
              </a:rPr>
              <a:t>Depending on the template,</a:t>
            </a:r>
            <a:br>
              <a:rPr lang="de-CH" sz="1600" dirty="0">
                <a:solidFill>
                  <a:srgbClr val="FFFFFF"/>
                </a:solidFill>
              </a:rPr>
            </a:br>
            <a:r>
              <a:rPr lang="de-CH" sz="1600" dirty="0">
                <a:solidFill>
                  <a:srgbClr val="FFFFFF"/>
                </a:solidFill>
              </a:rPr>
              <a:t>the corresponding Claude.md is included 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9C38CB3-DD22-B0EF-FD8A-FB39B59EF9D1}"/>
              </a:ext>
            </a:extLst>
          </p:cNvPr>
          <p:cNvSpPr/>
          <p:nvPr/>
        </p:nvSpPr>
        <p:spPr>
          <a:xfrm>
            <a:off x="8203605" y="1617915"/>
            <a:ext cx="2278951" cy="1157337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CH" sz="1600" dirty="0">
                <a:solidFill>
                  <a:srgbClr val="FFFFFF"/>
                </a:solidFill>
              </a:rPr>
              <a:t>Defines .</a:t>
            </a:r>
            <a:r>
              <a:rPr lang="de-CH" sz="1600" dirty="0" err="1">
                <a:solidFill>
                  <a:srgbClr val="FFFFFF"/>
                </a:solidFill>
              </a:rPr>
              <a:t>gitignore</a:t>
            </a:r>
            <a:r>
              <a:rPr lang="de-CH" sz="1600" dirty="0">
                <a:solidFill>
                  <a:srgbClr val="FFFFFF"/>
                </a:solidFill>
              </a:rPr>
              <a:t> so that the real data is only available locally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BA15F25-8C4D-C8E1-CE34-2E53D8F54CAE}"/>
              </a:ext>
            </a:extLst>
          </p:cNvPr>
          <p:cNvSpPr/>
          <p:nvPr/>
        </p:nvSpPr>
        <p:spPr>
          <a:xfrm>
            <a:off x="8203604" y="2898078"/>
            <a:ext cx="2278951" cy="1157337"/>
          </a:xfrm>
          <a:prstGeom prst="rect">
            <a:avLst/>
          </a:prstGeom>
          <a:solidFill>
            <a:srgbClr val="668CA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CH" sz="1600" dirty="0" err="1">
                <a:solidFill>
                  <a:srgbClr val="FFFFFF"/>
                </a:solidFill>
              </a:rPr>
              <a:t>anonym_dir</a:t>
            </a:r>
            <a:r>
              <a:rPr lang="de-CH" sz="1600" dirty="0">
                <a:solidFill>
                  <a:srgbClr val="FFFFFF"/>
                </a:solidFill>
              </a:rPr>
              <a:t>() additionally enables anonymization of the data</a:t>
            </a:r>
          </a:p>
        </p:txBody>
      </p:sp>
      <p:sp>
        <p:nvSpPr>
          <p:cNvPr id="46" name="Flussdiagramm: Verbinder 45">
            <a:extLst>
              <a:ext uri="{FF2B5EF4-FFF2-40B4-BE49-F238E27FC236}">
                <a16:creationId xmlns:a16="http://schemas.microsoft.com/office/drawing/2014/main" id="{FC04F142-6FBC-2FC6-BF25-0E1D9E21B314}"/>
              </a:ext>
            </a:extLst>
          </p:cNvPr>
          <p:cNvSpPr/>
          <p:nvPr/>
        </p:nvSpPr>
        <p:spPr>
          <a:xfrm>
            <a:off x="2626155" y="1364558"/>
            <a:ext cx="720000" cy="720000"/>
          </a:xfrm>
          <a:prstGeom prst="flowChartConnector">
            <a:avLst/>
          </a:prstGeom>
          <a:solidFill>
            <a:srgbClr val="668CA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4000"/>
              <a:t>✔</a:t>
            </a:r>
          </a:p>
        </p:txBody>
      </p:sp>
      <p:sp>
        <p:nvSpPr>
          <p:cNvPr id="48" name="Flussdiagramm: Verbinder 47">
            <a:extLst>
              <a:ext uri="{FF2B5EF4-FFF2-40B4-BE49-F238E27FC236}">
                <a16:creationId xmlns:a16="http://schemas.microsoft.com/office/drawing/2014/main" id="{C28D9283-5200-3BC8-C305-A251AC1F42FE}"/>
              </a:ext>
            </a:extLst>
          </p:cNvPr>
          <p:cNvSpPr/>
          <p:nvPr/>
        </p:nvSpPr>
        <p:spPr>
          <a:xfrm>
            <a:off x="2626155" y="2679217"/>
            <a:ext cx="720000" cy="720000"/>
          </a:xfrm>
          <a:prstGeom prst="flowChartConnector">
            <a:avLst/>
          </a:prstGeom>
          <a:solidFill>
            <a:srgbClr val="668CA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4000" dirty="0"/>
              <a:t>✔</a:t>
            </a:r>
          </a:p>
        </p:txBody>
      </p:sp>
      <p:sp>
        <p:nvSpPr>
          <p:cNvPr id="50" name="Flussdiagramm: Verbinder 49">
            <a:extLst>
              <a:ext uri="{FF2B5EF4-FFF2-40B4-BE49-F238E27FC236}">
                <a16:creationId xmlns:a16="http://schemas.microsoft.com/office/drawing/2014/main" id="{4E56665E-475D-8E1C-D1D1-D965471F7322}"/>
              </a:ext>
            </a:extLst>
          </p:cNvPr>
          <p:cNvSpPr/>
          <p:nvPr/>
        </p:nvSpPr>
        <p:spPr>
          <a:xfrm>
            <a:off x="10122555" y="1364558"/>
            <a:ext cx="720000" cy="720000"/>
          </a:xfrm>
          <a:prstGeom prst="flowChartConnector">
            <a:avLst/>
          </a:prstGeom>
          <a:solidFill>
            <a:srgbClr val="668CA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4000" dirty="0"/>
              <a:t>✔</a:t>
            </a:r>
          </a:p>
        </p:txBody>
      </p:sp>
      <p:sp>
        <p:nvSpPr>
          <p:cNvPr id="52" name="Flussdiagramm: Verbinder 51">
            <a:extLst>
              <a:ext uri="{FF2B5EF4-FFF2-40B4-BE49-F238E27FC236}">
                <a16:creationId xmlns:a16="http://schemas.microsoft.com/office/drawing/2014/main" id="{0FADA9EA-ADAD-DE9D-9A0D-A9BC2B535D86}"/>
              </a:ext>
            </a:extLst>
          </p:cNvPr>
          <p:cNvSpPr/>
          <p:nvPr/>
        </p:nvSpPr>
        <p:spPr>
          <a:xfrm>
            <a:off x="10122555" y="2659066"/>
            <a:ext cx="720000" cy="720000"/>
          </a:xfrm>
          <a:prstGeom prst="flowChartConnector">
            <a:avLst/>
          </a:prstGeom>
          <a:solidFill>
            <a:srgbClr val="668CA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4000" dirty="0"/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402198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50" grpId="0" animBg="1"/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E1E20-D59D-D10E-A302-64038DE2A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634" y="1053340"/>
            <a:ext cx="5696438" cy="638175"/>
          </a:xfrm>
        </p:spPr>
        <p:txBody>
          <a:bodyPr/>
          <a:lstStyle/>
          <a:p>
            <a:r>
              <a:rPr lang="de-CH" dirty="0"/>
              <a:t>Thank you!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DDEE2C0-DD8F-DB6F-E5BD-D6646B248C1C}"/>
              </a:ext>
            </a:extLst>
          </p:cNvPr>
          <p:cNvGrpSpPr/>
          <p:nvPr/>
        </p:nvGrpSpPr>
        <p:grpSpPr>
          <a:xfrm>
            <a:off x="515634" y="2533064"/>
            <a:ext cx="4562979" cy="3157200"/>
            <a:chOff x="4983812" y="1838120"/>
            <a:chExt cx="4562979" cy="3157200"/>
          </a:xfrm>
        </p:grpSpPr>
        <p:sp>
          <p:nvSpPr>
            <p:cNvPr id="5" name="Inhaltsplatzhalter 1">
              <a:extLst>
                <a:ext uri="{FF2B5EF4-FFF2-40B4-BE49-F238E27FC236}">
                  <a16:creationId xmlns:a16="http://schemas.microsoft.com/office/drawing/2014/main" id="{2C27D52F-0DB4-C010-6A42-1031199FC72F}"/>
                </a:ext>
              </a:extLst>
            </p:cNvPr>
            <p:cNvSpPr txBox="1">
              <a:spLocks/>
            </p:cNvSpPr>
            <p:nvPr/>
          </p:nvSpPr>
          <p:spPr>
            <a:xfrm>
              <a:off x="6929438" y="1838914"/>
              <a:ext cx="2617353" cy="3156406"/>
            </a:xfrm>
            <a:prstGeom prst="roundRect">
              <a:avLst>
                <a:gd name="adj" fmla="val 6707"/>
              </a:avLst>
            </a:prstGeom>
            <a:solidFill>
              <a:srgbClr val="668CA9"/>
            </a:solidFill>
          </p:spPr>
          <p:txBody>
            <a:bodyPr vert="horz" lIns="396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800" b="1" dirty="0">
                  <a:solidFill>
                    <a:srgbClr val="FFFFFF"/>
                  </a:solidFill>
                </a:rPr>
                <a:t>Felix Lorenz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OGD Specialist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Office for Data and Statistics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+41 58 345 53 67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felix.lorenz@tg.ch</a:t>
              </a:r>
            </a:p>
            <a:p>
              <a:endParaRPr lang="de-DE" sz="1200" dirty="0">
                <a:solidFill>
                  <a:srgbClr val="FFFFFF"/>
                </a:solidFill>
              </a:endParaRPr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880BC7D8-B2AF-4B3A-DF3E-AB56A9DFA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3812" y="1838120"/>
              <a:ext cx="2273013" cy="3157200"/>
            </a:xfrm>
            <a:custGeom>
              <a:avLst/>
              <a:gdLst>
                <a:gd name="connsiteX0" fmla="*/ 202878 w 2700000"/>
                <a:gd name="connsiteY0" fmla="*/ 0 h 3532581"/>
                <a:gd name="connsiteX1" fmla="*/ 2497122 w 2700000"/>
                <a:gd name="connsiteY1" fmla="*/ 0 h 3532581"/>
                <a:gd name="connsiteX2" fmla="*/ 2700000 w 2700000"/>
                <a:gd name="connsiteY2" fmla="*/ 202878 h 3532581"/>
                <a:gd name="connsiteX3" fmla="*/ 2700000 w 2700000"/>
                <a:gd name="connsiteY3" fmla="*/ 3329704 h 3532581"/>
                <a:gd name="connsiteX4" fmla="*/ 2576091 w 2700000"/>
                <a:gd name="connsiteY4" fmla="*/ 3516639 h 3532581"/>
                <a:gd name="connsiteX5" fmla="*/ 2497127 w 2700000"/>
                <a:gd name="connsiteY5" fmla="*/ 3532581 h 3532581"/>
                <a:gd name="connsiteX6" fmla="*/ 202873 w 2700000"/>
                <a:gd name="connsiteY6" fmla="*/ 3532581 h 3532581"/>
                <a:gd name="connsiteX7" fmla="*/ 123909 w 2700000"/>
                <a:gd name="connsiteY7" fmla="*/ 3516639 h 3532581"/>
                <a:gd name="connsiteX8" fmla="*/ 0 w 2700000"/>
                <a:gd name="connsiteY8" fmla="*/ 3329704 h 3532581"/>
                <a:gd name="connsiteX9" fmla="*/ 0 w 2700000"/>
                <a:gd name="connsiteY9" fmla="*/ 202878 h 3532581"/>
                <a:gd name="connsiteX10" fmla="*/ 202878 w 2700000"/>
                <a:gd name="connsiteY10" fmla="*/ 0 h 353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0000" h="3532581">
                  <a:moveTo>
                    <a:pt x="202878" y="0"/>
                  </a:moveTo>
                  <a:lnTo>
                    <a:pt x="2497122" y="0"/>
                  </a:lnTo>
                  <a:cubicBezTo>
                    <a:pt x="2609168" y="0"/>
                    <a:pt x="2700000" y="90832"/>
                    <a:pt x="2700000" y="202878"/>
                  </a:cubicBezTo>
                  <a:lnTo>
                    <a:pt x="2700000" y="3329704"/>
                  </a:lnTo>
                  <a:cubicBezTo>
                    <a:pt x="2700000" y="3413739"/>
                    <a:pt x="2648907" y="3485840"/>
                    <a:pt x="2576091" y="3516639"/>
                  </a:cubicBezTo>
                  <a:lnTo>
                    <a:pt x="2497127" y="3532581"/>
                  </a:lnTo>
                  <a:lnTo>
                    <a:pt x="202873" y="3532581"/>
                  </a:lnTo>
                  <a:lnTo>
                    <a:pt x="123909" y="3516639"/>
                  </a:lnTo>
                  <a:cubicBezTo>
                    <a:pt x="51093" y="3485840"/>
                    <a:pt x="0" y="3413739"/>
                    <a:pt x="0" y="3329704"/>
                  </a:cubicBezTo>
                  <a:lnTo>
                    <a:pt x="0" y="202878"/>
                  </a:lnTo>
                  <a:cubicBezTo>
                    <a:pt x="0" y="90832"/>
                    <a:pt x="90832" y="0"/>
                    <a:pt x="202878" y="0"/>
                  </a:cubicBezTo>
                  <a:close/>
                </a:path>
              </a:pathLst>
            </a:custGeom>
            <a:grpFill/>
          </p:spPr>
        </p:pic>
      </p:grpSp>
    </p:spTree>
    <p:extLst>
      <p:ext uri="{BB962C8B-B14F-4D97-AF65-F5344CB8AC3E}">
        <p14:creationId xmlns:p14="http://schemas.microsoft.com/office/powerpoint/2010/main" val="1248565930"/>
      </p:ext>
    </p:extLst>
  </p:cSld>
  <p:clrMapOvr>
    <a:masterClrMapping/>
  </p:clrMapOvr>
</p:sld>
</file>

<file path=ppt/theme/theme1.xml><?xml version="1.0" encoding="utf-8"?>
<a:theme xmlns:a="http://schemas.openxmlformats.org/drawingml/2006/main" name="KDV_Template">
  <a:themeElements>
    <a:clrScheme name="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9EC956F3AD744C8E8292B155ADBE20" ma:contentTypeVersion="12" ma:contentTypeDescription="Ein neues Dokument erstellen." ma:contentTypeScope="" ma:versionID="e3512839a338310ac4d8170de7323fcf">
  <xsd:schema xmlns:xsd="http://www.w3.org/2001/XMLSchema" xmlns:xs="http://www.w3.org/2001/XMLSchema" xmlns:p="http://schemas.microsoft.com/office/2006/metadata/properties" xmlns:ns2="d5a277e7-fb49-4ac4-a40e-6fdf4db53a24" xmlns:ns3="c9f0c5e5-bbd9-4dbb-a3cb-3e3e9f9688a9" targetNamespace="http://schemas.microsoft.com/office/2006/metadata/properties" ma:root="true" ma:fieldsID="5a90910d8c3970202b06c4c9a20f7bb7" ns2:_="" ns3:_="">
    <xsd:import namespace="d5a277e7-fb49-4ac4-a40e-6fdf4db53a24"/>
    <xsd:import namespace="c9f0c5e5-bbd9-4dbb-a3cb-3e3e9f968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277e7-fb49-4ac4-a40e-6fdf4db53a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ad84cd4b-6b1f-4259-81bc-acac050f11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0c5e5-bbd9-4dbb-a3cb-3e3e9f9688a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edef074-50a1-4179-bff0-9ecabe3bc66a}" ma:internalName="TaxCatchAll" ma:showField="CatchAllData" ma:web="c9f0c5e5-bbd9-4dbb-a3cb-3e3e9f968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277e7-fb49-4ac4-a40e-6fdf4db53a24">
      <Terms xmlns="http://schemas.microsoft.com/office/infopath/2007/PartnerControls"/>
    </lcf76f155ced4ddcb4097134ff3c332f>
    <TaxCatchAll xmlns="c9f0c5e5-bbd9-4dbb-a3cb-3e3e9f9688a9" xsi:nil="true"/>
  </documentManagement>
</p:properties>
</file>

<file path=customXml/item4.xml><?xml version="1.0" encoding="utf-8"?>
<f:fields xmlns:f="http://schemas.fabasoft.com/folio/2007/fields" catsources="">
  <f:record>
    <f:field ref="doc_FSCFOLIO_1_1001_FieldDocumentNumber" text=""/>
    <f:field ref="doc_FSCFOLIO_1_1001_FieldSubject" text="" edit="true"/>
    <f:field ref="FSCFOLIO_1_1001_SignaturesFldCtx_FSCFOLIO_1_1001_FieldLastSignature" text=""/>
    <f:field ref="FSCFOLIO_1_1001_SignaturesFldCtx_FSCFOLIO_1_1001_FieldLastSignatureBy" text=""/>
    <f:field ref="FSCFOLIO_1_1001_SignaturesFldCtx_FSCFOLIO_1_1001_FieldLastSignatureAt" date="" text=""/>
    <f:field ref="FSCFOLIO_1_1001_SignaturesFldCtx_FSCFOLIO_1_1001_FieldLastSignatureRemark" text=""/>
    <f:field ref="FSCFOLIO_1_1001_FieldCurrentUser" text="Stefan Schmid"/>
    <f:field ref="FSCFOLIO_1_1001_FieldCurrentDate" text="30.06.2023 15:55"/>
    <f:field ref="CCAPRECONFIG_15_1001_Objektname" text="KDV_Salespraesentation_Template" edit="true"/>
    <f:field ref="objname" text="KDV_Salespraesentation_Template" edit="true"/>
    <f:field ref="objsubject" text="" edit="true"/>
    <f:field ref="objcreatedby" text="Schmid, Stefan"/>
    <f:field ref="objcreatedat" date="2022-05-25T15:16:54" text="25.05.2022 15:16:54"/>
    <f:field ref="objchangedby" text="Schmid, Stefan"/>
    <f:field ref="objmodifiedat" date="2023-06-21T13:05:15" text="21.06.2023 13:05:15"/>
  </f:record>
  <f:display text="Serienbrief">
    <f:field ref="doc_FSCFOLIO_1_1001_FieldDocumentNumber" text="Dokument Nummer"/>
    <f:field ref="doc_FSCFOLIO_1_1001_FieldSubject" text="Betreff"/>
  </f:display>
  <f:display text="Unterschriften">
    <f:field ref="FSCFOLIO_1_1001_SignaturesFldCtx_FSCFOLIO_1_1001_FieldLastSignature" text="Letzte Unterschrift"/>
    <f:field ref="FSCFOLIO_1_1001_SignaturesFldCtx_FSCFOLIO_1_1001_FieldLastSignatureBy" text="Letzte Unterschrift von"/>
    <f:field ref="FSCFOLIO_1_1001_SignaturesFldCtx_FSCFOLIO_1_1001_FieldLastSignatureAt" text="Letzte Unterschrift am/um"/>
    <f:field ref="FSCFOLIO_1_1001_SignaturesFldCtx_FSCFOLIO_1_1001_FieldLastSignatureRemark" text="Bemerkung der letzten Unterschrift"/>
  </f:display>
  <f:display text="Allgemein">
    <f:field ref="FSCFOLIO_1_1001_FieldCurrentUser" text="Aktueller Benutzer"/>
    <f:field ref="FSCFOLIO_1_1001_FieldCurrentDate" text="Aktueller Zeitpunkt"/>
    <f:field ref="CCAPRECONFIG_15_1001_Objektname" text="Objektname"/>
    <f:field ref="objname" text="Name"/>
    <f:field ref="objsubject" text="Objektbetreff"/>
    <f:field ref="objcreatedby" text="Erzeugt von"/>
    <f:field ref="objcreatedat" text="Erzeugt am/um"/>
    <f:field ref="objchangedby" text="Letzte Änderung von"/>
    <f:field ref="objmodifiedat" text="Letzte Änderung am/um"/>
  </f:display>
</f:fields>
</file>

<file path=customXml/itemProps1.xml><?xml version="1.0" encoding="utf-8"?>
<ds:datastoreItem xmlns:ds="http://schemas.openxmlformats.org/officeDocument/2006/customXml" ds:itemID="{B1AA0DFA-429D-4376-A717-92DCAD1755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0AF3B0-2A9D-4967-BBF2-AA42B193F8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a277e7-fb49-4ac4-a40e-6fdf4db53a24"/>
    <ds:schemaRef ds:uri="c9f0c5e5-bbd9-4dbb-a3cb-3e3e9f968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DB5D09-ADBB-4C20-983B-FEAE81FF05BA}">
  <ds:schemaRefs>
    <ds:schemaRef ds:uri="http://purl.org/dc/terms/"/>
    <ds:schemaRef ds:uri="c9f0c5e5-bbd9-4dbb-a3cb-3e3e9f9688a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d5a277e7-fb49-4ac4-a40e-6fdf4db53a24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4E8A9591-F074-446B-902F-511FF79C122F}">
  <ds:schemaRefs>
    <ds:schemaRef ds:uri="http://schemas.fabasoft.com/folio/2007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Breitbild</PresentationFormat>
  <Paragraphs>126</Paragraphs>
  <Slides>11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Wingdings</vt:lpstr>
      <vt:lpstr>KDV_Template</vt:lpstr>
      <vt:lpstr>Claude Code in der öffentlichen Verwaltung: Pragmatisch, datenschutzkonform, produktiv</vt:lpstr>
      <vt:lpstr>Chatbot vs. Coding Assistant</vt:lpstr>
      <vt:lpstr>Das Problem: Datenschutz und KI in der Verwaltung scheint unvereinbar</vt:lpstr>
      <vt:lpstr>Das Problem: Datenschutz und KI in der Verwaltung scheint unvereinbar</vt:lpstr>
      <vt:lpstr>Nutzung erfordert einen kostenpflichtigen Plan und einen GitHub Account</vt:lpstr>
      <vt:lpstr>Wie Claude Code arbeitet</vt:lpstr>
      <vt:lpstr>Wo man Claude Code nutzen kann</vt:lpstr>
      <vt:lpstr>5 Tipps zum Tokens sparen</vt:lpstr>
      <vt:lpstr>PowerPoint-Präsentation</vt:lpstr>
      <vt:lpstr>PowerPoint-Präsentation</vt:lpstr>
      <vt:lpstr>Vielen Dank!</vt:lpstr>
    </vt:vector>
  </TitlesOfParts>
  <Company>Amt fuer Informatik Kanton Thurgau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Schmid Stefan</dc:creator>
  <cp:lastModifiedBy>Lorenz Felix</cp:lastModifiedBy>
  <cp:revision>11</cp:revision>
  <dcterms:created xsi:type="dcterms:W3CDTF">2022-04-22T11:15:18Z</dcterms:created>
  <dcterms:modified xsi:type="dcterms:W3CDTF">2026-08-24T14:18:40Z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0x010100299EC956F3AD744C8E8292B155ADBE20</vt:lpwstr>
  </property>
  <property fmtid="{D5CDD505-2E9C-101B-9397-08002B2CF9AE}" pid="3" name="MediaServiceImageTags">
    <vt:lpwstr/>
  </property>
</Properties>
</file>