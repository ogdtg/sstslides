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0"/>
  </p:notesMasterIdLst>
  <p:handoutMasterIdLst>
    <p:handoutMasterId r:id="rId21"/>
  </p:handoutMasterIdLst>
  <p:sldIdLst>
    <p:sldId id="2147482272" r:id="rId6"/>
    <p:sldId id="2147482274" r:id="rId7"/>
    <p:sldId id="2147482128" r:id="rId8"/>
    <p:sldId id="2147482257" r:id="rId9"/>
    <p:sldId id="2147482254" r:id="rId10"/>
    <p:sldId id="2147482265" r:id="rId11"/>
    <p:sldId id="2147482262" r:id="rId12"/>
    <p:sldId id="2147482263" r:id="rId13"/>
    <p:sldId id="2147482264" r:id="rId14"/>
    <p:sldId id="2147482266" r:id="rId15"/>
    <p:sldId id="2147482267" r:id="rId16"/>
    <p:sldId id="2147482268" r:id="rId17"/>
    <p:sldId id="2147482270" r:id="rId18"/>
    <p:sldId id="2147482271" r:id="rId19"/>
  </p:sldIdLst>
  <p:sldSz cx="12192000" cy="6858000"/>
  <p:notesSz cx="6797675" cy="9926638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ell" id="{73F80CAE-D516-4A64-AF24-41CEEF9057B5}">
          <p14:sldIdLst>
            <p14:sldId id="2147482272"/>
            <p14:sldId id="2147482274"/>
            <p14:sldId id="2147482128"/>
            <p14:sldId id="2147482257"/>
            <p14:sldId id="2147482254"/>
            <p14:sldId id="2147482265"/>
            <p14:sldId id="2147482262"/>
            <p14:sldId id="2147482263"/>
            <p14:sldId id="2147482264"/>
            <p14:sldId id="2147482266"/>
            <p14:sldId id="2147482267"/>
            <p14:sldId id="2147482268"/>
            <p14:sldId id="2147482270"/>
            <p14:sldId id="2147482271"/>
          </p14:sldIdLst>
        </p14:section>
        <p14:section name="Anhang" id="{507DB439-2AEB-474A-9BA3-EC1433AEA14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29DA69-7C8A-D9AD-FC68-C2AE8150A46C}" name="Stutz Sascha" initials="SS" userId="S::sascha.stutz@tg.ch::8f7689f7-418e-4f35-affb-0d799008dd7c" providerId="AD"/>
  <p188:author id="{D92DEF83-A21C-DF85-17CC-FB4A70BB01FE}" name="Baldenweg Ulrike" initials="UB" userId="S::Ulrike.Baldenweg@tg.ch::08d469e6-df66-4d75-976b-c206abc1add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CA9"/>
    <a:srgbClr val="8EDBF2"/>
    <a:srgbClr val="009FE3"/>
    <a:srgbClr val="3CA433"/>
    <a:srgbClr val="A2C50F"/>
    <a:srgbClr val="FEED00"/>
    <a:srgbClr val="003F6F"/>
    <a:srgbClr val="66BCC5"/>
    <a:srgbClr val="669198"/>
    <a:srgbClr val="004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FD0A5D-7EED-4D9C-A898-8CAB9BF24CE2}" v="63" dt="2026-08-24T14:15:49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2131" autoAdjust="0"/>
  </p:normalViewPr>
  <p:slideViewPr>
    <p:cSldViewPr snapToGrid="0">
      <p:cViewPr varScale="1">
        <p:scale>
          <a:sx n="126" d="100"/>
          <a:sy n="126" d="100"/>
        </p:scale>
        <p:origin x="13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60" y="121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tags" Target="tags/tag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AB50F6C-FF71-9907-A9C3-21A82CD233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DF498D-30EA-851A-0651-C7C3A0B2D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E29AE-8D97-4ADA-8E16-5D5AAC5FAAE9}" type="datetimeFigureOut">
              <a:rPr lang="de-CH" smtClean="0"/>
              <a:t>24.08.2026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6E3933-A723-029E-A4E0-581A11F228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C8B889-1CCC-5826-56FC-A069DC076E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7B076-B20A-473E-9192-28D6B3D9744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7511058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0AE6A-40D5-4679-BE6E-D982BB1877CE}" type="datetimeFigureOut">
              <a:rPr lang="de-CH" smtClean="0"/>
              <a:t>24.08.2026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F4B85-5466-48D6-82D0-DAE0EAD8063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195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87D4-B58C-0DDD-E182-71E17584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57FA56-94A5-1980-D579-93A2BF421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1E04F0-024B-1417-3D55-D315C6458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CH" dirty="0"/>
              <a:t>How many graduates use R after completing the course?</a:t>
            </a:r>
          </a:p>
          <a:p>
            <a:pPr marL="514350" indent="-514350">
              <a:buAutoNum type="arabicPeriod"/>
            </a:pPr>
            <a:r>
              <a:rPr lang="de-CH" dirty="0"/>
              <a:t>Why does usage vary after course completion?</a:t>
            </a:r>
          </a:p>
          <a:p>
            <a:pPr marL="514350" indent="-514350">
              <a:buAutoNum type="arabicPeriod"/>
            </a:pPr>
            <a:r>
              <a:rPr lang="de-CH" dirty="0"/>
              <a:t>What can we learn from the results for </a:t>
            </a:r>
            <a:r>
              <a:rPr lang="de-CH" dirty="0" err="1"/>
              <a:t>course design</a:t>
            </a:r>
            <a:r>
              <a:rPr lang="de-CH" dirty="0"/>
              <a:t>?</a:t>
            </a:r>
          </a:p>
          <a:p>
            <a:pPr marL="514350" indent="-514350">
              <a:buAutoNum type="arabicPeriod"/>
            </a:pPr>
            <a:r>
              <a:rPr lang="de-CH" dirty="0"/>
              <a:t>What would an optimal course structure look like?</a:t>
            </a:r>
          </a:p>
          <a:p>
            <a:pPr marL="514350" indent="-514350">
              <a:buAutoNum type="arabicPeriod"/>
            </a:pPr>
            <a:endParaRPr lang="de-CH" dirty="0"/>
          </a:p>
          <a:p>
            <a:pPr marL="0" indent="0">
              <a:buNone/>
            </a:pPr>
            <a:r>
              <a:rPr lang="de-CH" dirty="0"/>
              <a:t>Limitations:</a:t>
            </a:r>
          </a:p>
          <a:p>
            <a:pPr marL="171450" indent="-171450">
              <a:buFontTx/>
              <a:buChar char="-"/>
            </a:pPr>
            <a:r>
              <a:rPr lang="de-CH" dirty="0"/>
              <a:t>Small sample size</a:t>
            </a:r>
          </a:p>
          <a:p>
            <a:pPr marL="171450" indent="-171450">
              <a:buFontTx/>
              <a:buChar char="-"/>
            </a:pPr>
            <a:r>
              <a:rPr lang="de-CH" dirty="0"/>
              <a:t>Self-selection (mostly satisfied participants for whom R was beneficial, especially in ZH since the course took place a while ago)</a:t>
            </a:r>
          </a:p>
          <a:p>
            <a:pPr marL="0" indent="0">
              <a:buFontTx/>
              <a:buNone/>
            </a:pPr>
            <a:r>
              <a:rPr lang="de-CH" dirty="0"/>
              <a:t>-&gt; </a:t>
            </a:r>
            <a:r>
              <a:rPr lang="de-CH" dirty="0" err="1"/>
              <a:t>Observed</a:t>
            </a:r>
            <a:r>
              <a:rPr lang="de-CH" dirty="0"/>
              <a:t> correlations, not causal effects</a:t>
            </a:r>
          </a:p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A6F446-C908-AAF6-AF32-BCA69052C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177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503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CH" dirty="0"/>
              <a:t>How many graduates use R after completing the course?</a:t>
            </a:r>
          </a:p>
          <a:p>
            <a:pPr marL="514350" indent="-514350">
              <a:buAutoNum type="arabicPeriod"/>
            </a:pPr>
            <a:r>
              <a:rPr lang="de-CH" dirty="0"/>
              <a:t>Why does usage vary after course completion?</a:t>
            </a:r>
          </a:p>
          <a:p>
            <a:pPr marL="514350" indent="-514350">
              <a:buAutoNum type="arabicPeriod"/>
            </a:pPr>
            <a:r>
              <a:rPr lang="de-CH" dirty="0"/>
              <a:t>What can we learn from the results for </a:t>
            </a:r>
            <a:r>
              <a:rPr lang="de-CH" dirty="0" err="1"/>
              <a:t>course design</a:t>
            </a:r>
            <a:r>
              <a:rPr lang="de-CH" dirty="0"/>
              <a:t>?</a:t>
            </a:r>
          </a:p>
          <a:p>
            <a:pPr marL="514350" indent="-514350">
              <a:buAutoNum type="arabicPeriod"/>
            </a:pPr>
            <a:r>
              <a:rPr lang="de-CH" dirty="0"/>
              <a:t>What would an optimal course structure look like?</a:t>
            </a:r>
          </a:p>
          <a:p>
            <a:pPr marL="514350" indent="-514350">
              <a:buAutoNum type="arabicPeriod"/>
            </a:pPr>
            <a:endParaRPr lang="de-CH" dirty="0"/>
          </a:p>
          <a:p>
            <a:pPr marL="0" indent="0">
              <a:buNone/>
            </a:pPr>
            <a:r>
              <a:rPr lang="de-CH" dirty="0"/>
              <a:t>Limitations:</a:t>
            </a:r>
          </a:p>
          <a:p>
            <a:pPr marL="171450" indent="-171450">
              <a:buFontTx/>
              <a:buChar char="-"/>
            </a:pPr>
            <a:r>
              <a:rPr lang="de-CH" dirty="0"/>
              <a:t>Small sample size</a:t>
            </a:r>
          </a:p>
          <a:p>
            <a:pPr marL="171450" indent="-171450">
              <a:buFontTx/>
              <a:buChar char="-"/>
            </a:pPr>
            <a:r>
              <a:rPr lang="de-CH" dirty="0"/>
              <a:t>Self-selection (mostly satisfied participants for whom R was beneficial, especially in ZH since the course took place a while ago)</a:t>
            </a:r>
          </a:p>
          <a:p>
            <a:pPr marL="0" indent="0">
              <a:buFontTx/>
              <a:buNone/>
            </a:pPr>
            <a:r>
              <a:rPr lang="de-CH" dirty="0"/>
              <a:t>-&gt; </a:t>
            </a:r>
            <a:r>
              <a:rPr lang="de-CH" dirty="0" err="1"/>
              <a:t>Observed</a:t>
            </a:r>
            <a:r>
              <a:rPr lang="de-CH" dirty="0"/>
              <a:t> correlations, not causal effects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572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No ranking</a:t>
            </a:r>
          </a:p>
          <a:p>
            <a:pPr marL="171450" indent="-171450">
              <a:buFontTx/>
              <a:buChar char="-"/>
            </a:pPr>
            <a:r>
              <a:rPr lang="de-CH" dirty="0"/>
              <a:t>BL+TG were </a:t>
            </a:r>
            <a:r>
              <a:rPr lang="de-CH" dirty="0" err="1"/>
              <a:t>combined</a:t>
            </a:r>
            <a:r>
              <a:rPr lang="de-CH" dirty="0"/>
              <a:t>, as they are very similar</a:t>
            </a:r>
          </a:p>
          <a:p>
            <a:pPr marL="171450" indent="-171450">
              <a:buFontTx/>
              <a:buChar char="-"/>
            </a:pPr>
            <a:r>
              <a:rPr lang="de-CH" dirty="0"/>
              <a:t>ZH as a professional course with a professional instructor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252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Satisfaction is present everywhere </a:t>
            </a:r>
          </a:p>
          <a:p>
            <a:pPr marL="171450" indent="-171450">
              <a:buFontTx/>
              <a:buChar char="-"/>
            </a:pPr>
            <a:r>
              <a:rPr lang="de-CH" dirty="0"/>
              <a:t>"Happy sheet" -&gt; satisfaction does not measure usage (should be kept in mind for </a:t>
            </a:r>
            <a:r>
              <a:rPr lang="de-CH" dirty="0" err="1"/>
              <a:t>course evaluations</a:t>
            </a:r>
            <a:r>
              <a:rPr lang="de-CH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6597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Usage among the relatively large module courses BL+TG is below 50%</a:t>
            </a:r>
          </a:p>
          <a:p>
            <a:r>
              <a:rPr lang="de-CH" dirty="0"/>
              <a:t>In ZH, almost 3/4 are users (27% invested that much time and money and still don’t use R)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4145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Regular </a:t>
            </a:r>
            <a:r>
              <a:rPr lang="de-CH" dirty="0" err="1"/>
              <a:t>usage</a:t>
            </a:r>
            <a:r>
              <a:rPr lang="de-CH" dirty="0"/>
              <a:t> was only truly achieved </a:t>
            </a:r>
            <a:r>
              <a:rPr lang="de-CH" dirty="0" err="1"/>
              <a:t>in ZH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7963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Lack of time and quickly forgetting are problems that will always come up. The same goes for technical obstacles (unfortunately)</a:t>
            </a:r>
            <a:br>
              <a:rPr lang="de-CH" dirty="0"/>
            </a:br>
            <a:br>
              <a:rPr lang="de-CH" dirty="0"/>
            </a:br>
            <a:r>
              <a:rPr lang="de-CH" dirty="0"/>
              <a:t>Missing tasks, as well as other tools being sufficient, is something that could be </a:t>
            </a:r>
            <a:r>
              <a:rPr lang="de-CH" dirty="0" err="1"/>
              <a:t>ruled out</a:t>
            </a:r>
            <a:r>
              <a:rPr lang="de-CH" dirty="0"/>
              <a:t> beforehand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244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Both the genuinely motivated and the "just </a:t>
            </a:r>
            <a:r>
              <a:rPr lang="de-CH" dirty="0" err="1"/>
              <a:t>taking a look</a:t>
            </a:r>
            <a:r>
              <a:rPr lang="de-CH" dirty="0"/>
              <a:t>” crowd were addressed and took part -&gt; sharpen the target group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4450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Even removing those with prior knowledge, the difference becomes even bigger (though also smaller subgroups) 12% </a:t>
            </a:r>
            <a:r>
              <a:rPr lang="de-CH" dirty="0" err="1"/>
              <a:t>vs</a:t>
            </a:r>
            <a:r>
              <a:rPr lang="de-CH" dirty="0"/>
              <a:t> 50% and 0 </a:t>
            </a:r>
            <a:r>
              <a:rPr lang="de-CH" dirty="0" err="1"/>
              <a:t>vs</a:t>
            </a:r>
            <a:r>
              <a:rPr lang="de-CH" dirty="0"/>
              <a:t> 69% for ZH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4826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No definitive answer</a:t>
            </a:r>
          </a:p>
          <a:p>
            <a:pPr marL="171450" indent="-171450">
              <a:buFontTx/>
              <a:buChar char="-"/>
            </a:pPr>
            <a:r>
              <a:rPr lang="de-CH" dirty="0"/>
              <a:t>R courses are very resource-intensive</a:t>
            </a:r>
          </a:p>
          <a:p>
            <a:pPr marL="171450" indent="-171450">
              <a:buFontTx/>
              <a:buChar char="-"/>
            </a:pPr>
            <a:r>
              <a:rPr lang="de-CH" dirty="0"/>
              <a:t>At the limit when it comes to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literacy</a:t>
            </a: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Start earlier</a:t>
            </a:r>
          </a:p>
          <a:p>
            <a:pPr marL="171450" indent="-171450">
              <a:buFontTx/>
              <a:buChar char="-"/>
            </a:pPr>
            <a:r>
              <a:rPr lang="de-CH" dirty="0"/>
              <a:t>What about AI?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F4B85-5466-48D6-82D0-DAE0EAD80631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65457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1BCB5CA-2B6F-0101-7348-D07C9DCEC6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125" y="282623"/>
            <a:ext cx="1583201" cy="5757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14D7041-2DD9-B13F-3A93-0847AE3E36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433" y="2022604"/>
            <a:ext cx="5696438" cy="1946146"/>
          </a:xfrm>
          <a:prstGeom prst="rect">
            <a:avLst/>
          </a:prstGeom>
          <a:ln>
            <a:noFill/>
          </a:ln>
        </p:spPr>
        <p:txBody>
          <a:bodyPr lIns="0" tIns="0" rIns="0" bIns="0" anchor="ctr" anchorCtr="0">
            <a:normAutofit/>
          </a:bodyPr>
          <a:lstStyle>
            <a:lvl1pPr algn="l">
              <a:lnSpc>
                <a:spcPts val="45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durch Klicken bearbeiten zweite Zeile</a:t>
            </a:r>
            <a:br>
              <a:rPr lang="de-DE" dirty="0"/>
            </a:br>
            <a:r>
              <a:rPr lang="de-DE" dirty="0"/>
              <a:t>und dritte Zeile</a:t>
            </a:r>
            <a:endParaRPr lang="de-CH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C30AE5E8-E565-1B4F-C2F5-B3CE0547945B}"/>
              </a:ext>
            </a:extLst>
          </p:cNvPr>
          <p:cNvSpPr txBox="1">
            <a:spLocks/>
          </p:cNvSpPr>
          <p:nvPr userDrawn="1"/>
        </p:nvSpPr>
        <p:spPr>
          <a:xfrm>
            <a:off x="531338" y="523165"/>
            <a:ext cx="4756942" cy="30087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b="1" dirty="0"/>
              <a:t>Amt für Daten und Statistik</a:t>
            </a:r>
            <a:endParaRPr lang="de-CH" sz="1050" b="1" dirty="0"/>
          </a:p>
        </p:txBody>
      </p:sp>
      <p:pic>
        <p:nvPicPr>
          <p:cNvPr id="13" name="Grafik 12" descr="Ein Bild, das draußen, Wolke, Baum, Himmel enthält.&#10;&#10;KI-generierte Inhalte können fehlerhaft sein.">
            <a:extLst>
              <a:ext uri="{FF2B5EF4-FFF2-40B4-BE49-F238E27FC236}">
                <a16:creationId xmlns:a16="http://schemas.microsoft.com/office/drawing/2014/main" id="{936F82AF-3E8A-C1B0-2D51-D599B67CF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0" t="22822" b="9741"/>
          <a:stretch/>
        </p:blipFill>
        <p:spPr>
          <a:xfrm>
            <a:off x="6567778" y="1924050"/>
            <a:ext cx="5618678" cy="379095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2ED1D44-6DAA-46A8-1590-3EA47B9E1E5A}"/>
              </a:ext>
            </a:extLst>
          </p:cNvPr>
          <p:cNvSpPr/>
          <p:nvPr userDrawn="1"/>
        </p:nvSpPr>
        <p:spPr>
          <a:xfrm>
            <a:off x="11620500" y="1438275"/>
            <a:ext cx="571500" cy="485775"/>
          </a:xfrm>
          <a:prstGeom prst="rect">
            <a:avLst/>
          </a:prstGeom>
          <a:solidFill>
            <a:srgbClr val="FEE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C0F3BF2-D233-D505-C094-887CF19AC11A}"/>
              </a:ext>
            </a:extLst>
          </p:cNvPr>
          <p:cNvSpPr/>
          <p:nvPr userDrawn="1"/>
        </p:nvSpPr>
        <p:spPr>
          <a:xfrm>
            <a:off x="11620500" y="2633662"/>
            <a:ext cx="571500" cy="485775"/>
          </a:xfrm>
          <a:prstGeom prst="rect">
            <a:avLst/>
          </a:prstGeom>
          <a:solidFill>
            <a:srgbClr val="3CA4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7AABC3A-BDC4-DF7D-5F7B-D54EF0DBAD94}"/>
              </a:ext>
            </a:extLst>
          </p:cNvPr>
          <p:cNvSpPr/>
          <p:nvPr userDrawn="1"/>
        </p:nvSpPr>
        <p:spPr>
          <a:xfrm>
            <a:off x="11620500" y="3119437"/>
            <a:ext cx="571500" cy="485775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B7E6757-84EA-32B5-66F3-13637A2D04CE}"/>
              </a:ext>
            </a:extLst>
          </p:cNvPr>
          <p:cNvSpPr/>
          <p:nvPr userDrawn="1"/>
        </p:nvSpPr>
        <p:spPr>
          <a:xfrm>
            <a:off x="11620500" y="1925751"/>
            <a:ext cx="571500" cy="707911"/>
          </a:xfrm>
          <a:prstGeom prst="rect">
            <a:avLst/>
          </a:prstGeom>
          <a:solidFill>
            <a:srgbClr val="A2C5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B687796-653C-9A97-53A1-03B6209B19ED}"/>
              </a:ext>
            </a:extLst>
          </p:cNvPr>
          <p:cNvSpPr/>
          <p:nvPr userDrawn="1"/>
        </p:nvSpPr>
        <p:spPr>
          <a:xfrm>
            <a:off x="11620500" y="3605900"/>
            <a:ext cx="571500" cy="2685156"/>
          </a:xfrm>
          <a:prstGeom prst="rect">
            <a:avLst/>
          </a:prstGeom>
          <a:solidFill>
            <a:srgbClr val="59CEF1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55ECEF-58BF-6C4E-13AB-328721C2A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4078674"/>
            <a:ext cx="5710237" cy="63817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</a:lstStyle>
          <a:p>
            <a:pPr lvl="0"/>
            <a:r>
              <a:rPr lang="de-DE" dirty="0"/>
              <a:t>Name und Funktion des Referenten</a:t>
            </a:r>
          </a:p>
          <a:p>
            <a:pPr lvl="0"/>
            <a:r>
              <a:rPr lang="de-DE" dirty="0"/>
              <a:t>Frauenfeld, 25. März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9263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ung">
    <p:bg>
      <p:bgPr>
        <a:solidFill>
          <a:srgbClr val="A9D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146EE5-5980-A84E-9311-F5B9956E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80" y="1277347"/>
            <a:ext cx="11306175" cy="83657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ts val="6000"/>
              </a:lnSpc>
              <a:defRPr sz="6000" b="0" spc="40"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3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526380" y="2124792"/>
            <a:ext cx="10515600" cy="5598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883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">
    <p:bg>
      <p:bgPr>
        <a:solidFill>
          <a:srgbClr val="BFDE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146EE5-5980-A84E-9311-F5B9956E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52" y="1276953"/>
            <a:ext cx="11306175" cy="83657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ts val="6000"/>
              </a:lnSpc>
              <a:defRPr sz="6000" b="0" spc="40" baseline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535752" y="2130535"/>
            <a:ext cx="10515600" cy="5598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701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mi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2"/>
          <p:cNvSpPr>
            <a:spLocks noGrp="1"/>
          </p:cNvSpPr>
          <p:nvPr>
            <p:ph sz="half" idx="11"/>
          </p:nvPr>
        </p:nvSpPr>
        <p:spPr>
          <a:xfrm>
            <a:off x="533298" y="1628775"/>
            <a:ext cx="11179277" cy="4464050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908539-521E-E32B-B7C7-D1E0389B0D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 algn="r">
              <a:defRPr/>
            </a:lvl1pPr>
          </a:lstStyle>
          <a:p>
            <a:fld id="{9BF9BEF6-7696-47FE-9714-633954533453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36B3839-F360-16F2-91E3-E19B49A2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8807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3B971CF-C31D-279E-90EF-D8188D6C0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3257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5779" y="1628775"/>
            <a:ext cx="11183363" cy="44601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96000" y="6502122"/>
            <a:ext cx="216000" cy="1365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F9BEF6-7696-47FE-9714-633954533453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/>
          <a:p>
            <a:r>
              <a:rPr lang="de-DE"/>
              <a:t>Titel durch Klicken bearbeiten</a:t>
            </a:r>
            <a:endParaRPr lang="de-CH"/>
          </a:p>
        </p:txBody>
      </p:sp>
      <p:pic>
        <p:nvPicPr>
          <p:cNvPr id="499" name="Grafik 498">
            <a:extLst>
              <a:ext uri="{FF2B5EF4-FFF2-40B4-BE49-F238E27FC236}">
                <a16:creationId xmlns:a16="http://schemas.microsoft.com/office/drawing/2014/main" id="{F1869C40-B6DA-6731-F9F7-4B6A610BA6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6924" y="263573"/>
            <a:ext cx="1583201" cy="57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7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  <p:sldLayoutId id="2147483668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7" orient="horz" pos="3838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1" orient="horz" pos="250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6" Type="http://schemas.openxmlformats.org/officeDocument/2006/relationships/hyperlink" Target="https://www.slido.com/powerpoint-polling?utm_source=powerpoint&amp;utm_medium=placeholder-slide" TargetMode="External"/><Relationship Id="rId7" Type="http://schemas.openxmlformats.org/officeDocument/2006/relationships/image" Target="../media/image5.svg"/><Relationship Id="rId8" Type="http://schemas.openxmlformats.org/officeDocument/2006/relationships/hyperlink" Target="https://www.slido.com/support/ppi/how-to-change-the-design" TargetMode="External"/><Relationship Id="rId9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27EE34-0D64-BAC3-38BF-FA2C284BE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</a:t>
            </a:fld>
            <a:endParaRPr lang="de-CH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93D51A8-BE8A-1667-9C1A-0BE795774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 3" descr="Wie viel % der Absolventen eines R Kurses (ca. 25 Stunden Umfang) müssten R weiter nutzen, damit du den Kurs als Erfolg werten würdest?">
            <a:extLst>
              <a:ext uri="{FF2B5EF4-FFF2-40B4-BE49-F238E27FC236}">
                <a16:creationId xmlns:a16="http://schemas.microsoft.com/office/drawing/2014/main" id="{24890BC2-1C54-C14A-5295-CCBBBA3478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b="1">
                <a:solidFill>
                  <a:srgbClr val="000000"/>
                </a:solidFill>
              </a:rPr>
              <a:t>What percentage of graduates of an R course (approx. 25 hours) would need to keep using R for you to consider the course a success?</a:t>
            </a:r>
            <a:endParaRPr lang="de-CH" sz="2400" b="1">
              <a:solidFill>
                <a:srgbClr val="000000"/>
              </a:solidFill>
            </a:endParaRPr>
          </a:p>
        </p:txBody>
      </p:sp>
      <p:sp>
        <p:nvSpPr>
          <p:cNvPr id="5" name="Rechteck 4" descr="The Slido app must be installed on every computer you’re presenting from">
            <a:extLst>
              <a:ext uri="{FF2B5EF4-FFF2-40B4-BE49-F238E27FC236}">
                <a16:creationId xmlns:a16="http://schemas.microsoft.com/office/drawing/2014/main" id="{2AE8B38C-EBA1-E5E0-2C2D-7C7AA5EFA8DB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e-CH" sz="2600">
              <a:solidFill>
                <a:srgbClr val="FFFFF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30D0072-73BF-778F-5983-7067F2AC0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8" name="Trapezoid 7" descr="Do not edit&#10;How to change the design">
            <a:extLst>
              <a:ext uri="{FF2B5EF4-FFF2-40B4-BE49-F238E27FC236}">
                <a16:creationId xmlns:a16="http://schemas.microsoft.com/office/drawing/2014/main" id="{B389EEC2-BBF0-894D-A1CC-319E88B438E0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de-CH" sz="2200">
              <a:solidFill>
                <a:srgbClr val="198038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ADC2C1A-7E74-28E2-B25C-5F0E9EAB9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673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857E-EA9E-8B35-5180-F5750038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5AF311-50BF-E67B-6118-D78D8A8112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2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9AA08A0-0B38-C9EB-057B-40A671F4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9926002" cy="1370991"/>
          </a:xfrm>
        </p:spPr>
        <p:txBody>
          <a:bodyPr>
            <a:normAutofit fontScale="90000"/>
          </a:bodyPr>
          <a:lstStyle/>
          <a:p>
            <a:r>
              <a:rPr lang="de-DE" dirty="0"/>
              <a:t>What percentage of graduates of an R course (approx. 25 hours) would need to keep using R for you to consider the course a success?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1C7A7CD-8B7C-3B0E-1C71-DD35E7B1A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305" y="2476500"/>
            <a:ext cx="3501390" cy="35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640D5-0994-B290-DBF7-246710E4A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de-DE" sz="3200" dirty="0"/>
              <a:t>R Courses in Public Administration: Learning Success or Flash in the Pan? </a:t>
            </a:r>
            <a:endParaRPr lang="de-CH" sz="3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2FB3E5-2EEB-2D4E-FEC2-1E257FCD1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Felix Lorenz, Swiss Statistics Days 2026</a:t>
            </a:r>
          </a:p>
        </p:txBody>
      </p:sp>
    </p:spTree>
    <p:extLst>
      <p:ext uri="{BB962C8B-B14F-4D97-AF65-F5344CB8AC3E}">
        <p14:creationId xmlns:p14="http://schemas.microsoft.com/office/powerpoint/2010/main" val="383824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C654B0-4257-3D31-5817-B93276C00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4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D48E7D8-9086-6AED-0622-AB714BDB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7619319" cy="982371"/>
          </a:xfrm>
        </p:spPr>
        <p:txBody>
          <a:bodyPr>
            <a:normAutofit/>
          </a:bodyPr>
          <a:lstStyle/>
          <a:p>
            <a:r>
              <a:rPr lang="de-DE" dirty="0"/>
              <a:t>A Survey in Four Cantons as a Starting Point</a:t>
            </a:r>
            <a:endParaRPr lang="de-CH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59283E2-3291-6221-8EBE-DED695988F83}"/>
              </a:ext>
            </a:extLst>
          </p:cNvPr>
          <p:cNvSpPr txBox="1">
            <a:spLocks/>
          </p:cNvSpPr>
          <p:nvPr/>
        </p:nvSpPr>
        <p:spPr>
          <a:xfrm>
            <a:off x="528638" y="2113785"/>
            <a:ext cx="10515600" cy="2215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The survey was distributed to R course graduates in the cantons of Thurgau, Basel-Landschaft, Basel-Stadt, and Zürich</a:t>
            </a:r>
          </a:p>
          <a:p>
            <a:r>
              <a:rPr lang="de-CH" dirty="0"/>
              <a:t>A total of 58 responses</a:t>
            </a:r>
          </a:p>
          <a:p>
            <a:endParaRPr lang="de-CH" dirty="0"/>
          </a:p>
          <a:p>
            <a:pPr marL="0" indent="0">
              <a:buNone/>
            </a:pPr>
            <a:r>
              <a:rPr lang="de-CH" b="1" dirty="0"/>
              <a:t>Key question</a:t>
            </a:r>
            <a:r>
              <a:rPr lang="de-CH" dirty="0"/>
              <a:t>: What is the medium- and long-term benefit of R courses?</a:t>
            </a:r>
          </a:p>
        </p:txBody>
      </p:sp>
    </p:spTree>
    <p:extLst>
      <p:ext uri="{BB962C8B-B14F-4D97-AF65-F5344CB8AC3E}">
        <p14:creationId xmlns:p14="http://schemas.microsoft.com/office/powerpoint/2010/main" val="71456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5D84-075C-1B5F-110D-13BD63A3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E8CCC1-705A-BFBC-44BD-825916D720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5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C6F7485-7E9F-D08A-FD80-9A266409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Four Programs, One Survey</a:t>
            </a:r>
          </a:p>
        </p:txBody>
      </p:sp>
      <p:graphicFrame>
        <p:nvGraphicFramePr>
          <p:cNvPr id="7" name="Inhaltsplatzhalter 4">
            <a:extLst>
              <a:ext uri="{FF2B5EF4-FFF2-40B4-BE49-F238E27FC236}">
                <a16:creationId xmlns:a16="http://schemas.microsoft.com/office/drawing/2014/main" id="{C2596830-EE57-6CD5-D35C-02650CE6D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612048"/>
              </p:ext>
            </p:extLst>
          </p:nvPr>
        </p:nvGraphicFramePr>
        <p:xfrm>
          <a:off x="528638" y="2122234"/>
          <a:ext cx="10515600" cy="24066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22710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46496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3577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0265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solidFill>
                            <a:schemeClr val="tx1"/>
                          </a:solidFill>
                        </a:rPr>
                        <a:t>BS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solidFill>
                            <a:schemeClr val="tx1"/>
                          </a:solidFill>
                        </a:rPr>
                        <a:t>BL+TG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solidFill>
                            <a:schemeClr val="tx1"/>
                          </a:solidFill>
                        </a:rPr>
                        <a:t>ZH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8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endParaRPr lang="de-CH" sz="1500" b="0" i="0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Half-day introductory course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6 modules of 3.5 h each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10 modules of 2.5 h each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2743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Self-study time announced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 dirty="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endParaRPr lang="de-CH" sz="1500" b="0" i="0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not specified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~3 h per module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97570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Final project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 dirty="0">
                          <a:solidFill>
                            <a:srgbClr val="000000"/>
                          </a:solidFill>
                          <a:effectLst/>
                        </a:rPr>
                        <a:t>yes (+ 2 weeks before/after)</a:t>
                      </a:r>
                      <a:endParaRPr lang="de-CH" sz="1500" b="0" i="0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80848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Cost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none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none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CHF 1,950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61345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Responses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de-CH" sz="1500" b="0" i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CH" sz="1500" b="0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de-CH" sz="1500" b="0" i="0" dirty="0">
                        <a:solidFill>
                          <a:srgbClr val="000000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974414076"/>
                  </a:ext>
                </a:extLst>
              </a:tr>
            </a:tbl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44761D67-DD20-F249-B663-5EC63E00A291}"/>
              </a:ext>
            </a:extLst>
          </p:cNvPr>
          <p:cNvSpPr/>
          <p:nvPr/>
        </p:nvSpPr>
        <p:spPr>
          <a:xfrm>
            <a:off x="528638" y="4769712"/>
            <a:ext cx="10515600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three course formats are evaluated separately but are NOT(!) ranked against each other.</a:t>
            </a:r>
            <a:b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three formats effectively represent three different "dosages": course time, commitment, self-directed effort and cost increase from BS through BL+TG to ZH.</a:t>
            </a:r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5C081FF-B950-030F-7D36-D49274F2D8E2}"/>
              </a:ext>
            </a:extLst>
          </p:cNvPr>
          <p:cNvSpPr/>
          <p:nvPr/>
        </p:nvSpPr>
        <p:spPr>
          <a:xfrm>
            <a:off x="5786438" y="1745376"/>
            <a:ext cx="5328592" cy="3024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similar in content</a:t>
            </a:r>
          </a:p>
        </p:txBody>
      </p:sp>
    </p:spTree>
    <p:extLst>
      <p:ext uri="{BB962C8B-B14F-4D97-AF65-F5344CB8AC3E}">
        <p14:creationId xmlns:p14="http://schemas.microsoft.com/office/powerpoint/2010/main" val="6546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9CC8-128A-F862-6128-153436CB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22CA89-8E4B-1BCD-6CF5-D52FF7A124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6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E64E15A-1394-FC9A-26F1-84942ECA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Most participants are satisfied with the course</a:t>
            </a:r>
            <a:endParaRPr lang="de-CH" dirty="0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0B8D18E2-A235-A637-8F29-564CC0F1C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8" y="1269000"/>
            <a:ext cx="11249734" cy="51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71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D290984-80B4-EFF2-E1C1-94864AE570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7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6780096-6DAA-A2B5-F5E3-812CA496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Who still uses R at all?</a:t>
            </a:r>
            <a:endParaRPr lang="de-CH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5E3DAA63-5730-30DA-320A-A48EA0B8599F}"/>
              </a:ext>
            </a:extLst>
          </p:cNvPr>
          <p:cNvPicPr>
            <a:picLocks noGrp="1" noChangeAspect="1"/>
          </p:cNvPicPr>
          <p:nvPr>
            <p:ph sz="half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8" y="1313296"/>
            <a:ext cx="11252545" cy="512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9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701A-95C5-7C9B-BC85-F9D914EF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F4314B5-1278-5E52-DE4D-837A5343BE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8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EB84C96-385E-6F3F-D627-12D0E9FC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Who uses R </a:t>
            </a:r>
            <a:r>
              <a:rPr lang="de-DE" dirty="0" err="1"/>
              <a:t>regularly</a:t>
            </a:r>
            <a:r>
              <a:rPr lang="de-DE" dirty="0"/>
              <a:t>?</a:t>
            </a:r>
            <a:endParaRPr lang="de-CH" dirty="0"/>
          </a:p>
        </p:txBody>
      </p:sp>
      <p:pic>
        <p:nvPicPr>
          <p:cNvPr id="2" name="Inhaltsplatzhalter 5">
            <a:extLst>
              <a:ext uri="{FF2B5EF4-FFF2-40B4-BE49-F238E27FC236}">
                <a16:creationId xmlns:a16="http://schemas.microsoft.com/office/drawing/2014/main" id="{EB5404E9-A45C-6FF1-C7A4-E3C88E4BE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" y="1342971"/>
            <a:ext cx="11249737" cy="51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9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9CFE-917A-0EC5-74C5-FFB65DC3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0B896F-BFA7-DAEE-1FBA-D28D7E8E23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9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2A398E6-F721-16E2-936B-7A343AEE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Many don’t know what to use R for</a:t>
            </a:r>
            <a:endParaRPr lang="de-CH" dirty="0"/>
          </a:p>
        </p:txBody>
      </p:sp>
      <p:pic>
        <p:nvPicPr>
          <p:cNvPr id="5" name="Inhaltsplatzhalter 8">
            <a:extLst>
              <a:ext uri="{FF2B5EF4-FFF2-40B4-BE49-F238E27FC236}">
                <a16:creationId xmlns:a16="http://schemas.microsoft.com/office/drawing/2014/main" id="{FA49CF55-67FB-B388-FB5B-2482FF3C5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8" y="1379322"/>
            <a:ext cx="11249736" cy="51228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EF77EAD-0898-0294-4F92-7069F64431A3}"/>
              </a:ext>
            </a:extLst>
          </p:cNvPr>
          <p:cNvSpPr/>
          <p:nvPr/>
        </p:nvSpPr>
        <p:spPr>
          <a:xfrm>
            <a:off x="7068312" y="3813048"/>
            <a:ext cx="4643688" cy="22532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Learning:</a:t>
            </a:r>
            <a:r>
              <a:rPr lang="de-CH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Suitable tasks should be identified before the course, so there is a reason to use it.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E06ACC-12C6-8D14-5E34-F01AB7851383}"/>
              </a:ext>
            </a:extLst>
          </p:cNvPr>
          <p:cNvSpPr/>
          <p:nvPr/>
        </p:nvSpPr>
        <p:spPr>
          <a:xfrm>
            <a:off x="528638" y="1755648"/>
            <a:ext cx="11367706" cy="1362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619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6484-C8C8-D98D-0D7E-082EAA91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923FB75-5E28-EE1A-A034-617FF960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"Open" courses lead to heterogeneous target groups?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34B270-91FF-ACF9-150A-49BF63C25C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10</a:t>
            </a:fld>
            <a:endParaRPr lang="de-CH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492BEFAC-7F15-94F9-E9DA-67B515340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8" y="1324458"/>
            <a:ext cx="11249737" cy="51228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F5F9540-A5AC-5C72-34E8-6CACE0AE9ABC}"/>
              </a:ext>
            </a:extLst>
          </p:cNvPr>
          <p:cNvSpPr/>
          <p:nvPr/>
        </p:nvSpPr>
        <p:spPr>
          <a:xfrm>
            <a:off x="3621024" y="4527451"/>
            <a:ext cx="5843016" cy="18459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Learning:</a:t>
            </a:r>
            <a:r>
              <a:rPr lang="de-CH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everyone needs to be able to program. The course should specifically target seriously interested people rather than </a:t>
            </a:r>
            <a:r>
              <a:rPr lang="de-D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casual samplers</a:t>
            </a:r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e.g., through course fees and clear communication of the time commitment.</a:t>
            </a:r>
            <a:endParaRPr lang="de-CH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198E3B9-8332-0868-F440-2F191E0D7FDD}"/>
              </a:ext>
            </a:extLst>
          </p:cNvPr>
          <p:cNvSpPr/>
          <p:nvPr/>
        </p:nvSpPr>
        <p:spPr>
          <a:xfrm>
            <a:off x="8879102" y="2898648"/>
            <a:ext cx="2999857" cy="1211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dirty="0">
                <a:solidFill>
                  <a:srgbClr val="FF0000"/>
                </a:solidFill>
              </a:rPr>
              <a:t>Too long</a:t>
            </a:r>
          </a:p>
        </p:txBody>
      </p:sp>
    </p:spTree>
    <p:extLst>
      <p:ext uri="{BB962C8B-B14F-4D97-AF65-F5344CB8AC3E}">
        <p14:creationId xmlns:p14="http://schemas.microsoft.com/office/powerpoint/2010/main" val="177942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112E-3C78-CE3C-995A-B13400BA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A8BF1F5-0BBA-F08C-E04A-A956AE7B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38" y="617829"/>
            <a:ext cx="11183362" cy="772059"/>
          </a:xfrm>
        </p:spPr>
        <p:txBody>
          <a:bodyPr>
            <a:normAutofit fontScale="90000"/>
          </a:bodyPr>
          <a:lstStyle/>
          <a:p>
            <a:r>
              <a:rPr lang="de-DE" dirty="0"/>
              <a:t>Increased self-directed effort leads to</a:t>
            </a:r>
            <a:br>
              <a:rPr lang="de-DE" dirty="0"/>
            </a:br>
            <a:r>
              <a:rPr lang="de-DE" dirty="0"/>
              <a:t>more sustainable usage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E6A201-658C-5C60-FFAB-DB8BD878FC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11</a:t>
            </a:fld>
            <a:endParaRPr lang="de-CH"/>
          </a:p>
        </p:txBody>
      </p:sp>
      <p:pic>
        <p:nvPicPr>
          <p:cNvPr id="5" name="Inhaltsplatzhalter 7">
            <a:extLst>
              <a:ext uri="{FF2B5EF4-FFF2-40B4-BE49-F238E27FC236}">
                <a16:creationId xmlns:a16="http://schemas.microsoft.com/office/drawing/2014/main" id="{DCA58ABC-2493-6E77-4050-462841B4E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8" y="1397313"/>
            <a:ext cx="11249736" cy="51228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C4EFF50-E27C-1E07-F201-E0C7706F5B73}"/>
              </a:ext>
            </a:extLst>
          </p:cNvPr>
          <p:cNvSpPr/>
          <p:nvPr/>
        </p:nvSpPr>
        <p:spPr>
          <a:xfrm>
            <a:off x="7695024" y="1602966"/>
            <a:ext cx="3716688" cy="1926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Learning:</a:t>
            </a:r>
            <a:r>
              <a:rPr lang="de-CH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course’s goal must be to foster self-initiative, as this contributes to long-term usage.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E9ED02F-B7EF-3B51-1265-97BF68ACCC2D}"/>
              </a:ext>
            </a:extLst>
          </p:cNvPr>
          <p:cNvSpPr/>
          <p:nvPr/>
        </p:nvSpPr>
        <p:spPr>
          <a:xfrm>
            <a:off x="3922776" y="3776472"/>
            <a:ext cx="4233672" cy="19266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490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C140-CAFE-171E-EB88-E8168E3A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03D42B-9379-66A7-822A-AFEE73204C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12</a:t>
            </a:fld>
            <a:endParaRPr lang="de-CH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EC71FA16-44AF-63B0-5112-FE600C5FE29D}"/>
              </a:ext>
            </a:extLst>
          </p:cNvPr>
          <p:cNvSpPr txBox="1">
            <a:spLocks/>
          </p:cNvSpPr>
          <p:nvPr/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Three </a:t>
            </a:r>
            <a:r>
              <a:rPr lang="de-DE" dirty="0" err="1"/>
              <a:t>Learnings</a:t>
            </a:r>
            <a:r>
              <a:rPr lang="de-DE" dirty="0"/>
              <a:t> for more sustainable use</a:t>
            </a:r>
            <a:endParaRPr lang="de-CH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249C13E-82BD-B1EF-EA02-3CB3C2B45384}"/>
              </a:ext>
            </a:extLst>
          </p:cNvPr>
          <p:cNvGrpSpPr/>
          <p:nvPr/>
        </p:nvGrpSpPr>
        <p:grpSpPr>
          <a:xfrm>
            <a:off x="528638" y="4947328"/>
            <a:ext cx="10774036" cy="766955"/>
            <a:chOff x="506413" y="4462268"/>
            <a:chExt cx="10774036" cy="766955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B2D0CF3B-A741-5F68-2D03-13CAD661BFB3}"/>
                </a:ext>
              </a:extLst>
            </p:cNvPr>
            <p:cNvGrpSpPr/>
            <p:nvPr/>
          </p:nvGrpSpPr>
          <p:grpSpPr>
            <a:xfrm>
              <a:off x="506413" y="4462268"/>
              <a:ext cx="10774036" cy="766955"/>
              <a:chOff x="506413" y="3045522"/>
              <a:chExt cx="10774036" cy="766955"/>
            </a:xfrm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EC084792-8A3F-2A81-3E1F-844840B589D0}"/>
                  </a:ext>
                </a:extLst>
              </p:cNvPr>
              <p:cNvSpPr/>
              <p:nvPr/>
            </p:nvSpPr>
            <p:spPr>
              <a:xfrm>
                <a:off x="506413" y="3045523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1DC425-0FDE-0567-26E3-4F2C1D139C82}"/>
                  </a:ext>
                </a:extLst>
              </p:cNvPr>
              <p:cNvSpPr/>
              <p:nvPr/>
            </p:nvSpPr>
            <p:spPr>
              <a:xfrm>
                <a:off x="1406413" y="3045522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Foster self-initiative and communicate time commitment clearly</a:t>
                </a:r>
              </a:p>
            </p:txBody>
          </p:sp>
        </p:grp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DE6D0A94-125D-B962-A47F-26F2560B4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713" y="4547044"/>
              <a:ext cx="597400" cy="5974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075ED055-3414-9005-788E-4C191B205EAC}"/>
              </a:ext>
            </a:extLst>
          </p:cNvPr>
          <p:cNvGrpSpPr/>
          <p:nvPr/>
        </p:nvGrpSpPr>
        <p:grpSpPr>
          <a:xfrm>
            <a:off x="528638" y="3202107"/>
            <a:ext cx="10774036" cy="766955"/>
            <a:chOff x="506413" y="3178678"/>
            <a:chExt cx="10774036" cy="76695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FB6C93C2-A9D0-1C01-B4DF-A07A325850B0}"/>
                </a:ext>
              </a:extLst>
            </p:cNvPr>
            <p:cNvGrpSpPr/>
            <p:nvPr/>
          </p:nvGrpSpPr>
          <p:grpSpPr>
            <a:xfrm>
              <a:off x="506413" y="3178678"/>
              <a:ext cx="10774036" cy="766955"/>
              <a:chOff x="506413" y="3045522"/>
              <a:chExt cx="10774036" cy="766955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243A8537-0BAB-59BB-084E-7350C3705E92}"/>
                  </a:ext>
                </a:extLst>
              </p:cNvPr>
              <p:cNvSpPr/>
              <p:nvPr/>
            </p:nvSpPr>
            <p:spPr>
              <a:xfrm>
                <a:off x="506413" y="3045523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DD79A953-4545-C07A-30DA-D74F849DA9BD}"/>
                  </a:ext>
                </a:extLst>
              </p:cNvPr>
              <p:cNvSpPr/>
              <p:nvPr/>
            </p:nvSpPr>
            <p:spPr>
              <a:xfrm>
                <a:off x="1406413" y="3045522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Specifically target genuinely interested and motivated colleagues</a:t>
                </a:r>
              </a:p>
            </p:txBody>
          </p:sp>
        </p:grp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FD87D044-52E6-7DDA-779A-DD80D3E91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13" y="3263354"/>
              <a:ext cx="597600" cy="597600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0FC88F8A-0116-DD7B-BDB1-DAD29E2935C4}"/>
              </a:ext>
            </a:extLst>
          </p:cNvPr>
          <p:cNvGrpSpPr/>
          <p:nvPr/>
        </p:nvGrpSpPr>
        <p:grpSpPr>
          <a:xfrm>
            <a:off x="528638" y="1456885"/>
            <a:ext cx="10774036" cy="766954"/>
            <a:chOff x="506413" y="1895091"/>
            <a:chExt cx="10774036" cy="766954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1A10FD4-A472-5511-6752-996FB9C23AE3}"/>
                </a:ext>
              </a:extLst>
            </p:cNvPr>
            <p:cNvGrpSpPr/>
            <p:nvPr/>
          </p:nvGrpSpPr>
          <p:grpSpPr>
            <a:xfrm>
              <a:off x="506413" y="1895091"/>
              <a:ext cx="10774036" cy="766954"/>
              <a:chOff x="506413" y="1628775"/>
              <a:chExt cx="10774036" cy="766954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3F49AD4F-834C-6B45-1E01-9D2A543D6C70}"/>
                  </a:ext>
                </a:extLst>
              </p:cNvPr>
              <p:cNvSpPr/>
              <p:nvPr/>
            </p:nvSpPr>
            <p:spPr>
              <a:xfrm>
                <a:off x="506413" y="1628775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91900350-7EF1-EFB9-AAFE-B9E98E84DEA4}"/>
                  </a:ext>
                </a:extLst>
              </p:cNvPr>
              <p:cNvSpPr/>
              <p:nvPr/>
            </p:nvSpPr>
            <p:spPr>
              <a:xfrm>
                <a:off x="1406413" y="1628775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Own projects as a basic prerequisite for participation</a:t>
                </a:r>
              </a:p>
            </p:txBody>
          </p:sp>
        </p:grpSp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8A07D980-DE72-8332-95F9-21F7E780E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13" y="1979767"/>
              <a:ext cx="597600" cy="59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152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BF8C-2A24-F4CA-51EA-78BB1369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1836DD-9485-C73C-1E85-08AF30AA69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BF9BEF6-7696-47FE-9714-633954533453}" type="slidenum">
              <a:rPr lang="de-CH" smtClean="0"/>
              <a:pPr/>
              <a:t>13</a:t>
            </a:fld>
            <a:endParaRPr lang="de-CH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2641A1C8-C8FA-9E16-685B-47E0AB206110}"/>
              </a:ext>
            </a:extLst>
          </p:cNvPr>
          <p:cNvSpPr txBox="1">
            <a:spLocks/>
          </p:cNvSpPr>
          <p:nvPr/>
        </p:nvSpPr>
        <p:spPr>
          <a:xfrm>
            <a:off x="528638" y="617829"/>
            <a:ext cx="11183362" cy="651171"/>
          </a:xfrm>
          <a:prstGeom prst="rect">
            <a:avLst/>
          </a:prstGeom>
        </p:spPr>
        <p:txBody>
          <a:bodyPr vert="horz" lIns="0" tIns="0" rIns="0" bIns="7200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What this means for course design</a:t>
            </a:r>
            <a:endParaRPr lang="de-CH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7F0FA402-EEE1-7319-8932-2EC7852B120D}"/>
              </a:ext>
            </a:extLst>
          </p:cNvPr>
          <p:cNvGrpSpPr/>
          <p:nvPr/>
        </p:nvGrpSpPr>
        <p:grpSpPr>
          <a:xfrm>
            <a:off x="528638" y="4947328"/>
            <a:ext cx="10774036" cy="1551485"/>
            <a:chOff x="506413" y="4462268"/>
            <a:chExt cx="10774036" cy="766955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3D7FC06-DC58-3158-F58F-ED61B42D3F77}"/>
                </a:ext>
              </a:extLst>
            </p:cNvPr>
            <p:cNvGrpSpPr/>
            <p:nvPr/>
          </p:nvGrpSpPr>
          <p:grpSpPr>
            <a:xfrm>
              <a:off x="506413" y="4462268"/>
              <a:ext cx="10774036" cy="766955"/>
              <a:chOff x="506413" y="3045522"/>
              <a:chExt cx="10774036" cy="766955"/>
            </a:xfrm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1F77D7A6-D48E-3367-A1D9-BCAED03CDEA7}"/>
                  </a:ext>
                </a:extLst>
              </p:cNvPr>
              <p:cNvSpPr/>
              <p:nvPr/>
            </p:nvSpPr>
            <p:spPr>
              <a:xfrm>
                <a:off x="506413" y="3045523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1A1688BF-75AC-7ECD-32AF-65692471F619}"/>
                  </a:ext>
                </a:extLst>
              </p:cNvPr>
              <p:cNvSpPr/>
              <p:nvPr/>
            </p:nvSpPr>
            <p:spPr>
              <a:xfrm>
                <a:off x="1406413" y="3045522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Foster self-initiative and communicate time commitment clearly</a:t>
                </a:r>
              </a:p>
              <a:p>
                <a:endParaRPr lang="de-CH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Implement own project as the final project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Follow-up support (R office hours, community, etc.)</a:t>
                </a:r>
              </a:p>
            </p:txBody>
          </p:sp>
        </p:grp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D4E80CC5-0F3F-BC80-1057-3CA991120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713" y="4698388"/>
              <a:ext cx="597400" cy="294712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AB147CE-4759-9E80-F4F5-C571D5E233B7}"/>
              </a:ext>
            </a:extLst>
          </p:cNvPr>
          <p:cNvGrpSpPr/>
          <p:nvPr/>
        </p:nvGrpSpPr>
        <p:grpSpPr>
          <a:xfrm>
            <a:off x="528638" y="3202107"/>
            <a:ext cx="10774036" cy="1551489"/>
            <a:chOff x="506413" y="3178678"/>
            <a:chExt cx="10774036" cy="76695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6520ED7A-7938-A00B-71DD-6D69523741E3}"/>
                </a:ext>
              </a:extLst>
            </p:cNvPr>
            <p:cNvGrpSpPr/>
            <p:nvPr/>
          </p:nvGrpSpPr>
          <p:grpSpPr>
            <a:xfrm>
              <a:off x="506413" y="3178678"/>
              <a:ext cx="10774036" cy="766955"/>
              <a:chOff x="506413" y="3045522"/>
              <a:chExt cx="10774036" cy="766955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345C06D7-1314-82E0-96ED-6A862BD583E2}"/>
                  </a:ext>
                </a:extLst>
              </p:cNvPr>
              <p:cNvSpPr/>
              <p:nvPr/>
            </p:nvSpPr>
            <p:spPr>
              <a:xfrm>
                <a:off x="506413" y="3045523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B334B374-BDA4-028F-BC29-3868814B0BEA}"/>
                  </a:ext>
                </a:extLst>
              </p:cNvPr>
              <p:cNvSpPr/>
              <p:nvPr/>
            </p:nvSpPr>
            <p:spPr>
              <a:xfrm>
                <a:off x="1406413" y="3045522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Specifically target genuinely interested and motivated colleagues</a:t>
                </a:r>
              </a:p>
              <a:p>
                <a:endParaRPr lang="de-CH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Charge course fees, also to counteract </a:t>
                </a:r>
                <a:r>
                  <a:rPr lang="de-CH" dirty="0" err="1">
                    <a:solidFill>
                      <a:schemeClr val="tx1"/>
                    </a:solidFill>
                  </a:rPr>
                  <a:t>no</a:t>
                </a:r>
                <a:r>
                  <a:rPr lang="de-CH" dirty="0">
                    <a:solidFill>
                      <a:schemeClr val="tx1"/>
                    </a:solidFill>
                  </a:rPr>
                  <a:t>-shows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Participation in the preliminary workshop as a prerequisite (or with own project)</a:t>
                </a:r>
              </a:p>
            </p:txBody>
          </p:sp>
        </p:grp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A373D2CD-B121-8124-41BB-FBC4BABA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14" y="3414447"/>
              <a:ext cx="597599" cy="295414"/>
            </a:xfrm>
            <a:prstGeom prst="rect">
              <a:avLst/>
            </a:prstGeom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1487EF7-410E-3B75-8C99-420742EAD43F}"/>
              </a:ext>
            </a:extLst>
          </p:cNvPr>
          <p:cNvGrpSpPr/>
          <p:nvPr/>
        </p:nvGrpSpPr>
        <p:grpSpPr>
          <a:xfrm>
            <a:off x="528638" y="1456884"/>
            <a:ext cx="10774036" cy="1551491"/>
            <a:chOff x="506413" y="1895091"/>
            <a:chExt cx="10774036" cy="766954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3A571FCE-8B92-32B6-751D-AC32F65C403B}"/>
                </a:ext>
              </a:extLst>
            </p:cNvPr>
            <p:cNvGrpSpPr/>
            <p:nvPr/>
          </p:nvGrpSpPr>
          <p:grpSpPr>
            <a:xfrm>
              <a:off x="506413" y="1895091"/>
              <a:ext cx="10774036" cy="766954"/>
              <a:chOff x="506413" y="1628775"/>
              <a:chExt cx="10774036" cy="766954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B8CE6E9E-C61C-9E96-78B9-02E2D5B81FD4}"/>
                  </a:ext>
                </a:extLst>
              </p:cNvPr>
              <p:cNvSpPr/>
              <p:nvPr/>
            </p:nvSpPr>
            <p:spPr>
              <a:xfrm>
                <a:off x="506413" y="1628775"/>
                <a:ext cx="900000" cy="766954"/>
              </a:xfrm>
              <a:prstGeom prst="rect">
                <a:avLst/>
              </a:prstGeom>
              <a:solidFill>
                <a:srgbClr val="668CA9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72000" rIns="72000" rtlCol="0" anchor="t"/>
              <a:lstStyle/>
              <a:p>
                <a:endParaRPr lang="de-CH" sz="16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27A6DD3F-7D26-BB8A-CB75-079CE07F1BC9}"/>
                  </a:ext>
                </a:extLst>
              </p:cNvPr>
              <p:cNvSpPr/>
              <p:nvPr/>
            </p:nvSpPr>
            <p:spPr>
              <a:xfrm>
                <a:off x="1406413" y="1628775"/>
                <a:ext cx="9874036" cy="766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de-CH" b="1" dirty="0">
                    <a:solidFill>
                      <a:schemeClr val="tx1"/>
                    </a:solidFill>
                  </a:rPr>
                  <a:t>Own projects as a basic prerequisite for participation</a:t>
                </a:r>
              </a:p>
              <a:p>
                <a:endParaRPr lang="de-CH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Preliminary workshop (separate from the R workshop)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Conceptual identification of </a:t>
                </a:r>
                <a:r>
                  <a:rPr lang="de-CH" dirty="0" err="1">
                    <a:solidFill>
                      <a:schemeClr val="tx1"/>
                    </a:solidFill>
                  </a:rPr>
                  <a:t>automatable</a:t>
                </a:r>
                <a:r>
                  <a:rPr lang="de-CH" dirty="0">
                    <a:solidFill>
                      <a:schemeClr val="tx1"/>
                    </a:solidFill>
                  </a:rPr>
                  <a:t> work steps/projects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solidFill>
                      <a:schemeClr val="tx1"/>
                    </a:solidFill>
                  </a:rPr>
                  <a:t>Goal: identify an </a:t>
                </a:r>
                <a:r>
                  <a:rPr lang="de-CH" dirty="0" err="1">
                    <a:solidFill>
                      <a:schemeClr val="tx1"/>
                    </a:solidFill>
                  </a:rPr>
                  <a:t>automatable</a:t>
                </a:r>
                <a:r>
                  <a:rPr lang="de-CH" dirty="0">
                    <a:solidFill>
                      <a:schemeClr val="tx1"/>
                    </a:solidFill>
                  </a:rPr>
                  <a:t> project from one’s own area of work</a:t>
                </a:r>
              </a:p>
            </p:txBody>
          </p:sp>
        </p:grpSp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01240179-7AD5-5588-DC85-9A368E9EF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13" y="2138575"/>
              <a:ext cx="597600" cy="294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1547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E1E20-D59D-D10E-A302-64038DE2A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634" y="1053340"/>
            <a:ext cx="5696438" cy="638175"/>
          </a:xfrm>
        </p:spPr>
        <p:txBody>
          <a:bodyPr/>
          <a:lstStyle/>
          <a:p>
            <a:r>
              <a:rPr lang="de-CH" dirty="0"/>
              <a:t>Thank you!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DDEE2C0-DD8F-DB6F-E5BD-D6646B248C1C}"/>
              </a:ext>
            </a:extLst>
          </p:cNvPr>
          <p:cNvGrpSpPr/>
          <p:nvPr/>
        </p:nvGrpSpPr>
        <p:grpSpPr>
          <a:xfrm>
            <a:off x="515634" y="2533064"/>
            <a:ext cx="4562979" cy="3157200"/>
            <a:chOff x="4983812" y="1838120"/>
            <a:chExt cx="4562979" cy="3157200"/>
          </a:xfrm>
        </p:grpSpPr>
        <p:sp>
          <p:nvSpPr>
            <p:cNvPr id="5" name="Inhaltsplatzhalter 1">
              <a:extLst>
                <a:ext uri="{FF2B5EF4-FFF2-40B4-BE49-F238E27FC236}">
                  <a16:creationId xmlns:a16="http://schemas.microsoft.com/office/drawing/2014/main" id="{2C27D52F-0DB4-C010-6A42-1031199FC72F}"/>
                </a:ext>
              </a:extLst>
            </p:cNvPr>
            <p:cNvSpPr txBox="1">
              <a:spLocks/>
            </p:cNvSpPr>
            <p:nvPr/>
          </p:nvSpPr>
          <p:spPr>
            <a:xfrm>
              <a:off x="6929438" y="1838914"/>
              <a:ext cx="2617353" cy="3156406"/>
            </a:xfrm>
            <a:prstGeom prst="roundRect">
              <a:avLst>
                <a:gd name="adj" fmla="val 6707"/>
              </a:avLst>
            </a:prstGeom>
            <a:solidFill>
              <a:srgbClr val="668CA9"/>
            </a:solidFill>
          </p:spPr>
          <p:txBody>
            <a:bodyPr vert="horz" lIns="396000" tIns="72000" rIns="108000" bIns="72000" rtlCol="0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800" b="1" dirty="0">
                  <a:solidFill>
                    <a:srgbClr val="FFFFFF"/>
                  </a:solidFill>
                </a:rPr>
                <a:t>Felix Lorenz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OGD Specialist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Office for Data and Statistics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+41 58 345 53 67</a:t>
              </a:r>
            </a:p>
            <a:p>
              <a:r>
                <a:rPr lang="de-DE" sz="1200" dirty="0">
                  <a:solidFill>
                    <a:srgbClr val="FFFFFF"/>
                  </a:solidFill>
                </a:rPr>
                <a:t>felix.lorenz@tg.ch</a:t>
              </a:r>
            </a:p>
            <a:p>
              <a:endParaRPr lang="de-DE" sz="1200" dirty="0">
                <a:solidFill>
                  <a:srgbClr val="FFFFFF"/>
                </a:solidFill>
              </a:endParaRPr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880BC7D8-B2AF-4B3A-DF3E-AB56A9DFA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3812" y="1838120"/>
              <a:ext cx="2273013" cy="3157200"/>
            </a:xfrm>
            <a:custGeom>
              <a:avLst/>
              <a:gdLst>
                <a:gd name="connsiteX0" fmla="*/ 202878 w 2700000"/>
                <a:gd name="connsiteY0" fmla="*/ 0 h 3532581"/>
                <a:gd name="connsiteX1" fmla="*/ 2497122 w 2700000"/>
                <a:gd name="connsiteY1" fmla="*/ 0 h 3532581"/>
                <a:gd name="connsiteX2" fmla="*/ 2700000 w 2700000"/>
                <a:gd name="connsiteY2" fmla="*/ 202878 h 3532581"/>
                <a:gd name="connsiteX3" fmla="*/ 2700000 w 2700000"/>
                <a:gd name="connsiteY3" fmla="*/ 3329704 h 3532581"/>
                <a:gd name="connsiteX4" fmla="*/ 2576091 w 2700000"/>
                <a:gd name="connsiteY4" fmla="*/ 3516639 h 3532581"/>
                <a:gd name="connsiteX5" fmla="*/ 2497127 w 2700000"/>
                <a:gd name="connsiteY5" fmla="*/ 3532581 h 3532581"/>
                <a:gd name="connsiteX6" fmla="*/ 202873 w 2700000"/>
                <a:gd name="connsiteY6" fmla="*/ 3532581 h 3532581"/>
                <a:gd name="connsiteX7" fmla="*/ 123909 w 2700000"/>
                <a:gd name="connsiteY7" fmla="*/ 3516639 h 3532581"/>
                <a:gd name="connsiteX8" fmla="*/ 0 w 2700000"/>
                <a:gd name="connsiteY8" fmla="*/ 3329704 h 3532581"/>
                <a:gd name="connsiteX9" fmla="*/ 0 w 2700000"/>
                <a:gd name="connsiteY9" fmla="*/ 202878 h 3532581"/>
                <a:gd name="connsiteX10" fmla="*/ 202878 w 2700000"/>
                <a:gd name="connsiteY10" fmla="*/ 0 h 353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0000" h="3532581">
                  <a:moveTo>
                    <a:pt x="202878" y="0"/>
                  </a:moveTo>
                  <a:lnTo>
                    <a:pt x="2497122" y="0"/>
                  </a:lnTo>
                  <a:cubicBezTo>
                    <a:pt x="2609168" y="0"/>
                    <a:pt x="2700000" y="90832"/>
                    <a:pt x="2700000" y="202878"/>
                  </a:cubicBezTo>
                  <a:lnTo>
                    <a:pt x="2700000" y="3329704"/>
                  </a:lnTo>
                  <a:cubicBezTo>
                    <a:pt x="2700000" y="3413739"/>
                    <a:pt x="2648907" y="3485840"/>
                    <a:pt x="2576091" y="3516639"/>
                  </a:cubicBezTo>
                  <a:lnTo>
                    <a:pt x="2497127" y="3532581"/>
                  </a:lnTo>
                  <a:lnTo>
                    <a:pt x="202873" y="3532581"/>
                  </a:lnTo>
                  <a:lnTo>
                    <a:pt x="123909" y="3516639"/>
                  </a:lnTo>
                  <a:cubicBezTo>
                    <a:pt x="51093" y="3485840"/>
                    <a:pt x="0" y="3413739"/>
                    <a:pt x="0" y="3329704"/>
                  </a:cubicBezTo>
                  <a:lnTo>
                    <a:pt x="0" y="202878"/>
                  </a:lnTo>
                  <a:cubicBezTo>
                    <a:pt x="0" y="90832"/>
                    <a:pt x="90832" y="0"/>
                    <a:pt x="202878" y="0"/>
                  </a:cubicBezTo>
                  <a:close/>
                </a:path>
              </a:pathLst>
            </a:custGeom>
            <a:grpFill/>
          </p:spPr>
        </p:pic>
      </p:grpSp>
    </p:spTree>
    <p:extLst>
      <p:ext uri="{BB962C8B-B14F-4D97-AF65-F5344CB8AC3E}">
        <p14:creationId xmlns:p14="http://schemas.microsoft.com/office/powerpoint/2010/main" val="12485659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4.7921"/>
  <p:tag name="SLIDO_PRESENTATION_ID" val="08e20a45-652b-4c25-8be9-22d8e7237409"/>
  <p:tag name="SLIDO_EVENT_UUID" val="538a2e9c-d09e-4e1c-8262-434b7afd0977"/>
  <p:tag name="SLIDO_EVENT_SECTION_UUID" val="dee8a132-5f0a-48a1-a212-299c640789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c1NTg2MDV9"/>
  <p:tag name="SLIDO_TYPE" val="SlidoPoll"/>
  <p:tag name="SLIDO_POLL_UUID" val="01272ee2-ceb2-4999-9091-92f70e807a08"/>
  <p:tag name="SLIDO_TIMELINE" val="W3sicG9sbFF1ZXN0aW9uVXVpZCI6ImExYTRlNGRkLWUyYmYtNDI2Yi05YTY4LWIxNmI3NjNkNzBjNyIsInNob3dSZXN1bHRzIjpmYWxzZSwic2hvd0NvcnJlY3RBbnN3ZXJzIjpmYWxzZSwidm90aW5nTG9ja2VkIjpmYWxzZX0seyJwb2xsUXVlc3Rpb25VdWlkIjoiYTFhNGU0ZGQtZTJiZi00MjZiLTlhNjgtYjE2Yjc2M2Q3MGM3Iiwic2hvd1Jlc3VsdHMiOnRydWUsInNob3dDb3JyZWN0QW5zd2VycyI6ZmFsc2UsInZvdGluZ0xvY2tlZCI6ZmFsc2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KDV_Template">
  <a:themeElements>
    <a:clrScheme name="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9EC956F3AD744C8E8292B155ADBE20" ma:contentTypeVersion="12" ma:contentTypeDescription="Ein neues Dokument erstellen." ma:contentTypeScope="" ma:versionID="e3512839a338310ac4d8170de7323fcf">
  <xsd:schema xmlns:xsd="http://www.w3.org/2001/XMLSchema" xmlns:xs="http://www.w3.org/2001/XMLSchema" xmlns:p="http://schemas.microsoft.com/office/2006/metadata/properties" xmlns:ns2="d5a277e7-fb49-4ac4-a40e-6fdf4db53a24" xmlns:ns3="c9f0c5e5-bbd9-4dbb-a3cb-3e3e9f9688a9" targetNamespace="http://schemas.microsoft.com/office/2006/metadata/properties" ma:root="true" ma:fieldsID="5a90910d8c3970202b06c4c9a20f7bb7" ns2:_="" ns3:_="">
    <xsd:import namespace="d5a277e7-fb49-4ac4-a40e-6fdf4db53a24"/>
    <xsd:import namespace="c9f0c5e5-bbd9-4dbb-a3cb-3e3e9f968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277e7-fb49-4ac4-a40e-6fdf4db53a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ad84cd4b-6b1f-4259-81bc-acac050f11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0c5e5-bbd9-4dbb-a3cb-3e3e9f9688a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edef074-50a1-4179-bff0-9ecabe3bc66a}" ma:internalName="TaxCatchAll" ma:showField="CatchAllData" ma:web="c9f0c5e5-bbd9-4dbb-a3cb-3e3e9f968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f:fields xmlns:f="http://schemas.fabasoft.com/folio/2007/fields" catsources="">
  <f:record>
    <f:field ref="doc_FSCFOLIO_1_1001_FieldDocumentNumber" text=""/>
    <f:field ref="doc_FSCFOLIO_1_1001_FieldSubject" text="" edit="true"/>
    <f:field ref="FSCFOLIO_1_1001_SignaturesFldCtx_FSCFOLIO_1_1001_FieldLastSignature" text=""/>
    <f:field ref="FSCFOLIO_1_1001_SignaturesFldCtx_FSCFOLIO_1_1001_FieldLastSignatureBy" text=""/>
    <f:field ref="FSCFOLIO_1_1001_SignaturesFldCtx_FSCFOLIO_1_1001_FieldLastSignatureAt" date="" text=""/>
    <f:field ref="FSCFOLIO_1_1001_SignaturesFldCtx_FSCFOLIO_1_1001_FieldLastSignatureRemark" text=""/>
    <f:field ref="FSCFOLIO_1_1001_FieldCurrentUser" text="Stefan Schmid"/>
    <f:field ref="FSCFOLIO_1_1001_FieldCurrentDate" text="30.06.2023 15:55"/>
    <f:field ref="CCAPRECONFIG_15_1001_Objektname" text="KDV_Salespraesentation_Template" edit="true"/>
    <f:field ref="objname" text="KDV_Salespraesentation_Template" edit="true"/>
    <f:field ref="objsubject" text="" edit="true"/>
    <f:field ref="objcreatedby" text="Schmid, Stefan"/>
    <f:field ref="objcreatedat" date="2022-05-25T15:16:54" text="25.05.2022 15:16:54"/>
    <f:field ref="objchangedby" text="Schmid, Stefan"/>
    <f:field ref="objmodifiedat" date="2023-06-21T13:05:15" text="21.06.2023 13:05:15"/>
  </f:record>
  <f:display text="Serienbrief">
    <f:field ref="doc_FSCFOLIO_1_1001_FieldDocumentNumber" text="Dokument Nummer"/>
    <f:field ref="doc_FSCFOLIO_1_1001_FieldSubject" text="Betreff"/>
  </f:display>
  <f:display text="Unterschriften">
    <f:field ref="FSCFOLIO_1_1001_SignaturesFldCtx_FSCFOLIO_1_1001_FieldLastSignature" text="Letzte Unterschrift"/>
    <f:field ref="FSCFOLIO_1_1001_SignaturesFldCtx_FSCFOLIO_1_1001_FieldLastSignatureBy" text="Letzte Unterschrift von"/>
    <f:field ref="FSCFOLIO_1_1001_SignaturesFldCtx_FSCFOLIO_1_1001_FieldLastSignatureAt" text="Letzte Unterschrift am/um"/>
    <f:field ref="FSCFOLIO_1_1001_SignaturesFldCtx_FSCFOLIO_1_1001_FieldLastSignatureRemark" text="Bemerkung der letzten Unterschrift"/>
  </f:display>
  <f:display text="Allgemein">
    <f:field ref="FSCFOLIO_1_1001_FieldCurrentUser" text="Aktueller Benutzer"/>
    <f:field ref="FSCFOLIO_1_1001_FieldCurrentDate" text="Aktueller Zeitpunkt"/>
    <f:field ref="CCAPRECONFIG_15_1001_Objektname" text="Objektname"/>
    <f:field ref="objname" text="Name"/>
    <f:field ref="objsubject" text="Objektbetreff"/>
    <f:field ref="objcreatedby" text="Erzeugt von"/>
    <f:field ref="objcreatedat" text="Erzeugt am/um"/>
    <f:field ref="objchangedby" text="Letzte Änderung von"/>
    <f:field ref="objmodifiedat" text="Letzte Änderung am/um"/>
  </f:display>
</f:field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277e7-fb49-4ac4-a40e-6fdf4db53a24">
      <Terms xmlns="http://schemas.microsoft.com/office/infopath/2007/PartnerControls"/>
    </lcf76f155ced4ddcb4097134ff3c332f>
    <TaxCatchAll xmlns="c9f0c5e5-bbd9-4dbb-a3cb-3e3e9f9688a9" xsi:nil="true"/>
  </documentManagement>
</p:properties>
</file>

<file path=customXml/itemProps1.xml><?xml version="1.0" encoding="utf-8"?>
<ds:datastoreItem xmlns:ds="http://schemas.openxmlformats.org/officeDocument/2006/customXml" ds:itemID="{FA0AF3B0-2A9D-4967-BBF2-AA42B193F8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a277e7-fb49-4ac4-a40e-6fdf4db53a24"/>
    <ds:schemaRef ds:uri="c9f0c5e5-bbd9-4dbb-a3cb-3e3e9f968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AA0DFA-429D-4376-A717-92DCAD1755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8A9591-F074-446B-902F-511FF79C122F}">
  <ds:schemaRefs>
    <ds:schemaRef ds:uri="http://schemas.fabasoft.com/folio/2007/fields"/>
  </ds:schemaRefs>
</ds:datastoreItem>
</file>

<file path=customXml/itemProps4.xml><?xml version="1.0" encoding="utf-8"?>
<ds:datastoreItem xmlns:ds="http://schemas.openxmlformats.org/officeDocument/2006/customXml" ds:itemID="{31DB5D09-ADBB-4C20-983B-FEAE81FF05BA}">
  <ds:schemaRefs>
    <ds:schemaRef ds:uri="http://purl.org/dc/terms/"/>
    <ds:schemaRef ds:uri="c9f0c5e5-bbd9-4dbb-a3cb-3e3e9f9688a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d5a277e7-fb49-4ac4-a40e-6fdf4db53a2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Office PowerPoint</Application>
  <PresentationFormat>Breitbild</PresentationFormat>
  <Paragraphs>128</Paragraphs>
  <Slides>14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Fira Sans</vt:lpstr>
      <vt:lpstr>KDV_Template</vt:lpstr>
      <vt:lpstr>PowerPoint-Präsentation</vt:lpstr>
      <vt:lpstr>Wie viel % der Absolventen eines R Kurses (ca. 25 Stunden Umfang) müssten R weiter nutzen, damit du den Kurs als Erfolg werten würdest?</vt:lpstr>
      <vt:lpstr>R-Kurse in der Verwaltung: Lernerfolg oder Strohfeuer? </vt:lpstr>
      <vt:lpstr>Eine Umfrage in vier Kantonen als Ausgangspunkt</vt:lpstr>
      <vt:lpstr>Vier Programme, eine Umfrage</vt:lpstr>
      <vt:lpstr>Die meisten sind mit dem Kurs zufrieden</vt:lpstr>
      <vt:lpstr>Wer nutzt R überhaupt noch?</vt:lpstr>
      <vt:lpstr>Wer nutzt R regelmässig?</vt:lpstr>
      <vt:lpstr>Viele wissen nicht für was sie R nutzen sollen</vt:lpstr>
      <vt:lpstr>«Offene» Kurse führen zu heterogenen Zielgruppen?</vt:lpstr>
      <vt:lpstr>Erhöhter Eigenaufwand führt zu nachhaltigerer Nutzung</vt:lpstr>
      <vt:lpstr>PowerPoint-Präsentation</vt:lpstr>
      <vt:lpstr>PowerPoint-Präsentation</vt:lpstr>
      <vt:lpstr>Vielen Dank!</vt:lpstr>
    </vt:vector>
  </TitlesOfParts>
  <Company>Amt fuer Informatik Kanton Thurgau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Schmid Stefan</dc:creator>
  <cp:lastModifiedBy>Lorenz Felix</cp:lastModifiedBy>
  <cp:revision>12</cp:revision>
  <dcterms:created xsi:type="dcterms:W3CDTF">2022-04-22T11:15:18Z</dcterms:created>
  <dcterms:modified xsi:type="dcterms:W3CDTF">2026-08-24T14:17:30Z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0x010100299EC956F3AD744C8E8292B155ADBE20</vt:lpwstr>
  </property>
  <property fmtid="{D5CDD505-2E9C-101B-9397-08002B2CF9AE}" pid="3" name="MediaServiceImageTags">
    <vt:lpwstr/>
  </property>
</Properties>
</file>